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Aptos"/>
        <a:ea typeface="Aptos"/>
        <a:cs typeface="Aptos"/>
        <a:sym typeface="Aptos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Aptos"/>
        <a:ea typeface="Aptos"/>
        <a:cs typeface="Aptos"/>
        <a:sym typeface="Aptos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Aptos"/>
        <a:ea typeface="Aptos"/>
        <a:cs typeface="Aptos"/>
        <a:sym typeface="Aptos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Aptos"/>
        <a:ea typeface="Aptos"/>
        <a:cs typeface="Aptos"/>
        <a:sym typeface="Aptos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Aptos"/>
        <a:ea typeface="Aptos"/>
        <a:cs typeface="Aptos"/>
        <a:sym typeface="Aptos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Aptos"/>
        <a:ea typeface="Aptos"/>
        <a:cs typeface="Aptos"/>
        <a:sym typeface="Aptos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Aptos"/>
        <a:ea typeface="Aptos"/>
        <a:cs typeface="Aptos"/>
        <a:sym typeface="Aptos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Aptos"/>
        <a:ea typeface="Aptos"/>
        <a:cs typeface="Aptos"/>
        <a:sym typeface="Aptos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Aptos"/>
        <a:ea typeface="Aptos"/>
        <a:cs typeface="Aptos"/>
        <a:sym typeface="Apto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Aptos"/>
          <a:ea typeface="Aptos"/>
          <a:cs typeface="Aptos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1D8"/>
          </a:solidFill>
        </a:fill>
      </a:tcStyle>
    </a:wholeTbl>
    <a:band2H>
      <a:tcTxStyle b="def" i="def"/>
      <a:tcStyle>
        <a:tcBdr/>
        <a:fill>
          <a:solidFill>
            <a:srgbClr val="E7E9EC"/>
          </a:solidFill>
        </a:fill>
      </a:tcStyle>
    </a:band2H>
    <a:firstCol>
      <a:tcTxStyle b="on" i="off">
        <a:font>
          <a:latin typeface="Aptos"/>
          <a:ea typeface="Aptos"/>
          <a:cs typeface="Apto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Aptos"/>
          <a:ea typeface="Aptos"/>
          <a:cs typeface="Apto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Aptos"/>
          <a:ea typeface="Aptos"/>
          <a:cs typeface="Aptos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BD3CB"/>
          </a:solidFill>
        </a:fill>
      </a:tcStyle>
    </a:wholeTbl>
    <a:band2H>
      <a:tcTxStyle b="def" i="def"/>
      <a:tcStyle>
        <a:tcBdr/>
        <a:fill>
          <a:solidFill>
            <a:srgbClr val="E7EAE7"/>
          </a:solidFill>
        </a:fill>
      </a:tcStyle>
    </a:band2H>
    <a:firstCol>
      <a:tcTxStyle b="on" i="off">
        <a:font>
          <a:latin typeface="Aptos"/>
          <a:ea typeface="Aptos"/>
          <a:cs typeface="Apto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Aptos"/>
          <a:ea typeface="Aptos"/>
          <a:cs typeface="Apto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Aptos"/>
          <a:ea typeface="Aptos"/>
          <a:cs typeface="Aptos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E1CC"/>
          </a:solidFill>
        </a:fill>
      </a:tcStyle>
    </a:wholeTbl>
    <a:band2H>
      <a:tcTxStyle b="def" i="def"/>
      <a:tcStyle>
        <a:tcBdr/>
        <a:fill>
          <a:solidFill>
            <a:srgbClr val="E8F0E7"/>
          </a:solidFill>
        </a:fill>
      </a:tcStyle>
    </a:band2H>
    <a:firstCol>
      <a:tcTxStyle b="on" i="off">
        <a:font>
          <a:latin typeface="Aptos"/>
          <a:ea typeface="Aptos"/>
          <a:cs typeface="Apto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Aptos"/>
          <a:ea typeface="Aptos"/>
          <a:cs typeface="Apto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Aptos"/>
          <a:ea typeface="Aptos"/>
          <a:cs typeface="Aptos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Aptos"/>
          <a:ea typeface="Aptos"/>
          <a:cs typeface="Aptos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Aptos"/>
          <a:ea typeface="Aptos"/>
          <a:cs typeface="Aptos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Aptos"/>
          <a:ea typeface="Aptos"/>
          <a:cs typeface="Aptos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Aptos"/>
          <a:ea typeface="Aptos"/>
          <a:cs typeface="Apto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Aptos"/>
          <a:ea typeface="Aptos"/>
          <a:cs typeface="Apto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Aptos"/>
          <a:ea typeface="Aptos"/>
          <a:cs typeface="Aptos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Aptos"/>
          <a:ea typeface="Aptos"/>
          <a:cs typeface="Aptos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Aptos"/>
          <a:ea typeface="Aptos"/>
          <a:cs typeface="Aptos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" name="Shape 1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Helvetica Neue"/>
      </a:defRPr>
    </a:lvl1pPr>
    <a:lvl2pPr indent="228600" latinLnBrk="0">
      <a:defRPr sz="1200">
        <a:latin typeface="+mj-lt"/>
        <a:ea typeface="+mj-ea"/>
        <a:cs typeface="+mj-cs"/>
        <a:sym typeface="Helvetica Neue"/>
      </a:defRPr>
    </a:lvl2pPr>
    <a:lvl3pPr indent="457200" latinLnBrk="0">
      <a:defRPr sz="1200">
        <a:latin typeface="+mj-lt"/>
        <a:ea typeface="+mj-ea"/>
        <a:cs typeface="+mj-cs"/>
        <a:sym typeface="Helvetica Neue"/>
      </a:defRPr>
    </a:lvl3pPr>
    <a:lvl4pPr indent="685800" latinLnBrk="0">
      <a:defRPr sz="1200">
        <a:latin typeface="+mj-lt"/>
        <a:ea typeface="+mj-ea"/>
        <a:cs typeface="+mj-cs"/>
        <a:sym typeface="Helvetica Neue"/>
      </a:defRPr>
    </a:lvl4pPr>
    <a:lvl5pPr indent="914400" latinLnBrk="0">
      <a:defRPr sz="1200">
        <a:latin typeface="+mj-lt"/>
        <a:ea typeface="+mj-ea"/>
        <a:cs typeface="+mj-cs"/>
        <a:sym typeface="Helvetica Neue"/>
      </a:defRPr>
    </a:lvl5pPr>
    <a:lvl6pPr indent="1143000" latinLnBrk="0">
      <a:defRPr sz="1200">
        <a:latin typeface="+mj-lt"/>
        <a:ea typeface="+mj-ea"/>
        <a:cs typeface="+mj-cs"/>
        <a:sym typeface="Helvetica Neue"/>
      </a:defRPr>
    </a:lvl6pPr>
    <a:lvl7pPr indent="1371600" latinLnBrk="0">
      <a:defRPr sz="1200">
        <a:latin typeface="+mj-lt"/>
        <a:ea typeface="+mj-ea"/>
        <a:cs typeface="+mj-cs"/>
        <a:sym typeface="Helvetica Neue"/>
      </a:defRPr>
    </a:lvl7pPr>
    <a:lvl8pPr indent="1600200" latinLnBrk="0">
      <a:defRPr sz="1200">
        <a:latin typeface="+mj-lt"/>
        <a:ea typeface="+mj-ea"/>
        <a:cs typeface="+mj-cs"/>
        <a:sym typeface="Helvetica Neue"/>
      </a:defRPr>
    </a:lvl8pPr>
    <a:lvl9pPr indent="1828800" latinLnBrk="0">
      <a:defRPr sz="1200">
        <a:latin typeface="+mj-lt"/>
        <a:ea typeface="+mj-ea"/>
        <a:cs typeface="+mj-cs"/>
        <a:sym typeface="Helvetica Neue"/>
      </a:defRPr>
    </a:lvl9pPr>
  </p:notesStyle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hape 31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2" name="Shape 32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Nesta sprint, minha atuação ficou concentrada em duas frentes: a construção do fluxo inicial de acesso e consentimento e a estruturação do processamento assíncrono para extração de e-mails e transcrições pelo Microsoft Graph. Vou mostrar o que foi desenvolvido, como os componentes se conectam e quais resultados já conseguimos validar.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Shape 53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54" name="Shape 54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Minha atuação foi dividida nessas duas frentes. Na primeira, trabalhei para viabilizar o acesso autenticado e o gerenciamento do consentimento. Na segunda, estruturei o fluxo assíncrono responsável por extrair, organizar e armazenar os dados do Microsoft Graph.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62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63" name="Shape 63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Esta é a visão geral da arquitetura. Os componentes destacados em laranja representam o escopo em que atuamos nesta sprint. Na frente de consentimento, trabalhamos no caminho entre o frontend, o Gateway, o BFF e o serviço de autorização e consentimento. Na frente de extração, atuamos no fluxo formado pela fila SQS, pelas Lambdas de processamento, pela integração com o Microsoft Graph e pelo armazenamento no S3. Não vou detalhar toda a arquitetura, apenas os pontos ligados às entregas demonstradas hoje.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Shape 94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5" name="Shape 95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Para que o fluxo funcionasse, não bastava implementar as rotas. Primeiro foi necessário viabilizar a aplicação no processo corporativo, configurar a autenticação no Azure AD e associar os escopos necessários ao Client ID do Chassi. A partir disso, validamos a propagação do token desde o frontend até o backend, permitindo que as rotas de consentimento fossem chamadas dentro de um contexto autenticado. Ao mostrar os prints, destaque a autorização, a configuração e o resultado de cada etapa.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Shape 118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19" name="Shape 119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Com a jornada de autenticação estabelecida, implementamos no BFF a integração das três operações necessárias para o gerenciamento do consentimento. O GET consulta o estado atual, o POST recebe os dados pelo body e registra o consentimento, e o DELETE utiliza o identificador para realizar a remoção. Nos testes pelo Insomnia, mostre a entrada pelo Gateway, a passagem pelo BFF e a resposta obtida. Evite gastar tempo lendo todo o JSON e todos os headers.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Shape 149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50" name="Shape 150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Na segunda frente, estruturamos o processamento assíncrono das extrações. A fila recebe a solicitação e desacopla o pedido do processamento. A Lambda consome a mensagem, realiza as consultas ao Microsoft Graph e armazena os resultados no S3. Também estruturamos a separação das pastas e os formatos iniciais dos JSONs de e-mails e transcrições. Na demo, mostre uma execução concreta: mensagem na fila, Lambda processando, chamada ao Graph e arquivo criado no S3.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Shape 175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76" name="Shape 176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Durante parte do desenvolvimento, a base de dados e a definição final dos campos do contrato ainda não estavam disponíveis. Para não bloquear a evolução, utilizamos mocks para construir e validar a integração entre frontend, Gateway e BFF. Agora que a base e os campos estão sendo disponibilizados, a próxima etapa concentra-se na substituição dos mocks, no mapeamento definitivo e na validação com carga real.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Shape 193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94" name="Shape 194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Nesta sprint, avançamos em duas frentes complementares. Na primeira, estruturamos a jornada de autenticação e consentimento, desde as configurações corporativas até a integração do frontend com o Gateway, o BFF e o serviço de consentimento. Na segunda, estruturamos o processamento assíncrono para extração de e-mails e transcrições, utilizando SQS FIFO, Lambda, Microsoft Graph e S3. Mesmo com a base definitiva e os contratos ainda em definição, utilizamos mocks para validar as integrações sem bloquear o projeto. Como resultado, os principais fluxos técnicos estão integrados e funcionando. O próximo passo é substituir os dados simulados pelos dados reais sobre essa fundação já construída.</a:t>
            </a:r>
          </a:p>
        </p:txBody>
      </p:sp>
    </p:spTree>
  </p:cSld>
  <p:clrMapOvr>
    <a:masterClrMapping/>
  </p:clrMapOvr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Número do Slid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 do Título"/>
          <p:cNvSpPr txBox="1"/>
          <p:nvPr>
            <p:ph type="title"/>
          </p:nvPr>
        </p:nvSpPr>
        <p:spPr>
          <a:xfrm>
            <a:off x="914400" y="1844675"/>
            <a:ext cx="10363200" cy="20415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/>
            <a:r>
              <a:t>Texto do Título</a:t>
            </a:r>
          </a:p>
        </p:txBody>
      </p:sp>
      <p:sp>
        <p:nvSpPr>
          <p:cNvPr id="3" name="Nível de Corpo Um…"/>
          <p:cNvSpPr txBox="1"/>
          <p:nvPr>
            <p:ph type="body" idx="1"/>
          </p:nvPr>
        </p:nvSpPr>
        <p:spPr>
          <a:xfrm>
            <a:off x="1828800" y="3886200"/>
            <a:ext cx="8534400" cy="2971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/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4" name="Número do Slide"/>
          <p:cNvSpPr txBox="1"/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  <p:transition xmlns:p14="http://schemas.microsoft.com/office/powerpoint/2010/main" spd="med" advClick="1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"/>
          <a:ea typeface="Aptos"/>
          <a:cs typeface="Aptos"/>
          <a:sym typeface="Aptos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"/>
          <a:ea typeface="Aptos"/>
          <a:cs typeface="Aptos"/>
          <a:sym typeface="Aptos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"/>
          <a:ea typeface="Aptos"/>
          <a:cs typeface="Aptos"/>
          <a:sym typeface="Aptos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"/>
          <a:ea typeface="Aptos"/>
          <a:cs typeface="Aptos"/>
          <a:sym typeface="Aptos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"/>
          <a:ea typeface="Aptos"/>
          <a:cs typeface="Aptos"/>
          <a:sym typeface="Aptos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"/>
          <a:ea typeface="Aptos"/>
          <a:cs typeface="Aptos"/>
          <a:sym typeface="Aptos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"/>
          <a:ea typeface="Aptos"/>
          <a:cs typeface="Aptos"/>
          <a:sym typeface="Aptos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"/>
          <a:ea typeface="Aptos"/>
          <a:cs typeface="Aptos"/>
          <a:sym typeface="Aptos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"/>
          <a:ea typeface="Aptos"/>
          <a:cs typeface="Aptos"/>
          <a:sym typeface="Aptos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Aptos"/>
          <a:ea typeface="Aptos"/>
          <a:cs typeface="Aptos"/>
          <a:sym typeface="Aptos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Aptos"/>
          <a:ea typeface="Aptos"/>
          <a:cs typeface="Aptos"/>
          <a:sym typeface="Aptos"/>
        </a:defRPr>
      </a:lvl2pPr>
      <a:lvl3pPr marL="1234439" marR="0" indent="-320039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Aptos"/>
          <a:ea typeface="Aptos"/>
          <a:cs typeface="Aptos"/>
          <a:sym typeface="Aptos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Aptos"/>
          <a:ea typeface="Aptos"/>
          <a:cs typeface="Aptos"/>
          <a:sym typeface="Aptos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Aptos"/>
          <a:ea typeface="Aptos"/>
          <a:cs typeface="Aptos"/>
          <a:sym typeface="Aptos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Aptos"/>
          <a:ea typeface="Aptos"/>
          <a:cs typeface="Aptos"/>
          <a:sym typeface="Aptos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Aptos"/>
          <a:ea typeface="Aptos"/>
          <a:cs typeface="Aptos"/>
          <a:sym typeface="Aptos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Aptos"/>
          <a:ea typeface="Aptos"/>
          <a:cs typeface="Aptos"/>
          <a:sym typeface="Aptos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Aptos"/>
          <a:ea typeface="Aptos"/>
          <a:cs typeface="Aptos"/>
          <a:sym typeface="Aptos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7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tângulo"/>
          <p:cNvSpPr/>
          <p:nvPr/>
        </p:nvSpPr>
        <p:spPr>
          <a:xfrm>
            <a:off x="685800" y="628650"/>
            <a:ext cx="819150" cy="66675"/>
          </a:xfrm>
          <a:prstGeom prst="rect">
            <a:avLst/>
          </a:prstGeom>
          <a:solidFill>
            <a:srgbClr val="F58220"/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21" name="DEMO DA SPRINT"/>
          <p:cNvSpPr txBox="1"/>
          <p:nvPr/>
        </p:nvSpPr>
        <p:spPr>
          <a:xfrm>
            <a:off x="731519" y="952500"/>
            <a:ext cx="4671061" cy="3619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>
            <a:lvl1pPr>
              <a:defRPr b="1" sz="1300">
                <a:solidFill>
                  <a:srgbClr val="2AA7C9"/>
                </a:solidFill>
                <a:latin typeface="Bitstream Charter"/>
                <a:ea typeface="Bitstream Charter"/>
                <a:cs typeface="Bitstream Charter"/>
                <a:sym typeface="Bitstream Charter"/>
              </a:defRPr>
            </a:lvl1pPr>
          </a:lstStyle>
          <a:p>
            <a:pPr/>
            <a:r>
              <a:t>DEMO DA SPRINT</a:t>
            </a:r>
          </a:p>
        </p:txBody>
      </p:sp>
      <p:sp>
        <p:nvSpPr>
          <p:cNvPr id="22" name="Consentimento e extração…"/>
          <p:cNvSpPr txBox="1"/>
          <p:nvPr/>
        </p:nvSpPr>
        <p:spPr>
          <a:xfrm>
            <a:off x="731519" y="1524000"/>
            <a:ext cx="7719061" cy="18097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>
              <a:defRPr b="1" sz="360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  <a:sym typeface="Bitstream Charter"/>
              </a:defRPr>
            </a:pPr>
            <a:r>
              <a:t>Consentimento e extração</a:t>
            </a:r>
          </a:p>
          <a:p>
            <a:pPr>
              <a:defRPr b="1" sz="360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  <a:sym typeface="Bitstream Charter"/>
              </a:defRPr>
            </a:pPr>
            <a:r>
              <a:t>de e-mails e transcrições</a:t>
            </a:r>
          </a:p>
        </p:txBody>
      </p:sp>
      <p:sp>
        <p:nvSpPr>
          <p:cNvPr id="23" name="Duas frentes integradas: acesso seguro e processamento assíncrono via Microsoft Graph"/>
          <p:cNvSpPr txBox="1"/>
          <p:nvPr/>
        </p:nvSpPr>
        <p:spPr>
          <a:xfrm>
            <a:off x="731519" y="3714750"/>
            <a:ext cx="7147561" cy="704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>
            <a:lvl1pPr>
              <a:defRPr sz="1700">
                <a:solidFill>
                  <a:srgbClr val="C9D8E6"/>
                </a:solidFill>
                <a:latin typeface="Bitstream Charter"/>
                <a:ea typeface="Bitstream Charter"/>
                <a:cs typeface="Bitstream Charter"/>
                <a:sym typeface="Bitstream Charter"/>
              </a:defRPr>
            </a:lvl1pPr>
          </a:lstStyle>
          <a:p>
            <a:pPr/>
            <a:r>
              <a:t>Duas frentes integradas: acesso seguro e processamento assíncrono via Microsoft Graph</a:t>
            </a:r>
          </a:p>
        </p:txBody>
      </p:sp>
      <p:sp>
        <p:nvSpPr>
          <p:cNvPr id="24" name="Retângulo Arredondado"/>
          <p:cNvSpPr/>
          <p:nvPr/>
        </p:nvSpPr>
        <p:spPr>
          <a:xfrm>
            <a:off x="9239250" y="1095375"/>
            <a:ext cx="2000250" cy="4000500"/>
          </a:xfrm>
          <a:prstGeom prst="roundRect">
            <a:avLst>
              <a:gd name="adj" fmla="val 13333"/>
            </a:avLst>
          </a:prstGeom>
          <a:solidFill>
            <a:srgbClr val="0C294A"/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25" name="01"/>
          <p:cNvSpPr txBox="1"/>
          <p:nvPr/>
        </p:nvSpPr>
        <p:spPr>
          <a:xfrm>
            <a:off x="9665969" y="1476375"/>
            <a:ext cx="1146811" cy="8096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>
            <a:lvl1pPr algn="ctr">
              <a:defRPr b="1" sz="4000">
                <a:solidFill>
                  <a:srgbClr val="F58220"/>
                </a:solidFill>
                <a:latin typeface="Bitstream Charter"/>
                <a:ea typeface="Bitstream Charter"/>
                <a:cs typeface="Bitstream Charter"/>
                <a:sym typeface="Bitstream Charter"/>
              </a:defRPr>
            </a:lvl1pPr>
          </a:lstStyle>
          <a:p>
            <a:pPr/>
            <a:r>
              <a:t>01</a:t>
            </a:r>
          </a:p>
        </p:txBody>
      </p:sp>
      <p:sp>
        <p:nvSpPr>
          <p:cNvPr id="26" name="ACESSO E…"/>
          <p:cNvSpPr txBox="1"/>
          <p:nvPr/>
        </p:nvSpPr>
        <p:spPr>
          <a:xfrm>
            <a:off x="9523094" y="2524125"/>
            <a:ext cx="1432561" cy="7143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 algn="ctr">
              <a:defRPr b="1" sz="130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  <a:sym typeface="Bitstream Charter"/>
              </a:defRPr>
            </a:pPr>
            <a:r>
              <a:t>ACESSO E</a:t>
            </a:r>
          </a:p>
          <a:p>
            <a:pPr algn="ctr">
              <a:defRPr b="1" sz="130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  <a:sym typeface="Bitstream Charter"/>
              </a:defRPr>
            </a:pPr>
            <a:r>
              <a:t>CONSENTIMENTO</a:t>
            </a:r>
          </a:p>
        </p:txBody>
      </p:sp>
      <p:sp>
        <p:nvSpPr>
          <p:cNvPr id="27" name="Retângulo"/>
          <p:cNvSpPr/>
          <p:nvPr/>
        </p:nvSpPr>
        <p:spPr>
          <a:xfrm>
            <a:off x="9620250" y="3476625"/>
            <a:ext cx="1238250" cy="19050"/>
          </a:xfrm>
          <a:prstGeom prst="rect">
            <a:avLst/>
          </a:prstGeom>
          <a:solidFill>
            <a:srgbClr val="46637C"/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28" name="02"/>
          <p:cNvSpPr txBox="1"/>
          <p:nvPr/>
        </p:nvSpPr>
        <p:spPr>
          <a:xfrm>
            <a:off x="9665969" y="3762375"/>
            <a:ext cx="1146811" cy="5905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>
            <a:lvl1pPr algn="ctr">
              <a:defRPr b="1" sz="3100">
                <a:solidFill>
                  <a:srgbClr val="2AA7C9"/>
                </a:solidFill>
                <a:latin typeface="Bitstream Charter"/>
                <a:ea typeface="Bitstream Charter"/>
                <a:cs typeface="Bitstream Charter"/>
                <a:sym typeface="Bitstream Charter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29" name="EXTRAÇÃO…"/>
          <p:cNvSpPr txBox="1"/>
          <p:nvPr/>
        </p:nvSpPr>
        <p:spPr>
          <a:xfrm>
            <a:off x="9523094" y="4619625"/>
            <a:ext cx="1432561" cy="6667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 algn="ctr">
              <a:defRPr b="1" sz="130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  <a:sym typeface="Bitstream Charter"/>
              </a:defRPr>
            </a:pPr>
            <a:r>
              <a:t>EXTRAÇÃO</a:t>
            </a:r>
          </a:p>
          <a:p>
            <a:pPr algn="ctr">
              <a:defRPr b="1" sz="130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  <a:sym typeface="Bitstream Charter"/>
              </a:defRPr>
            </a:pPr>
            <a:r>
              <a:t>GRAPH API</a:t>
            </a:r>
          </a:p>
        </p:txBody>
      </p:sp>
      <p:sp>
        <p:nvSpPr>
          <p:cNvPr id="30" name="Sprint Review"/>
          <p:cNvSpPr txBox="1"/>
          <p:nvPr/>
        </p:nvSpPr>
        <p:spPr>
          <a:xfrm>
            <a:off x="731519" y="6191250"/>
            <a:ext cx="2194562" cy="2476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>
            <a:lvl1pPr>
              <a:defRPr sz="1000">
                <a:solidFill>
                  <a:srgbClr val="88A0B7"/>
                </a:solidFill>
                <a:latin typeface="Bitstream Charter"/>
                <a:ea typeface="Bitstream Charter"/>
                <a:cs typeface="Bitstream Charter"/>
                <a:sym typeface="Bitstream Charter"/>
              </a:defRPr>
            </a:lvl1pPr>
          </a:lstStyle>
          <a:p>
            <a:pPr/>
            <a:r>
              <a:t>Sprint Review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rentes em que atuei"/>
          <p:cNvSpPr txBox="1"/>
          <p:nvPr/>
        </p:nvSpPr>
        <p:spPr>
          <a:xfrm>
            <a:off x="712469" y="381000"/>
            <a:ext cx="9909811" cy="6191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>
            <a:lvl1pPr>
              <a:defRPr b="1" sz="2500">
                <a:solidFill>
                  <a:srgbClr val="071B33"/>
                </a:solidFill>
                <a:latin typeface="Bitstream Charter"/>
                <a:ea typeface="Bitstream Charter"/>
                <a:cs typeface="Bitstream Charter"/>
                <a:sym typeface="Bitstream Charter"/>
              </a:defRPr>
            </a:lvl1pPr>
          </a:lstStyle>
          <a:p>
            <a:pPr/>
            <a:r>
              <a:t>Frentes em que atuei</a:t>
            </a:r>
          </a:p>
        </p:txBody>
      </p:sp>
      <p:sp>
        <p:nvSpPr>
          <p:cNvPr id="35" name="02"/>
          <p:cNvSpPr txBox="1"/>
          <p:nvPr/>
        </p:nvSpPr>
        <p:spPr>
          <a:xfrm>
            <a:off x="11094719" y="457200"/>
            <a:ext cx="384811" cy="3333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>
            <a:lvl1pPr algn="r">
              <a:defRPr b="1" sz="1100">
                <a:solidFill>
                  <a:srgbClr val="F58220"/>
                </a:solidFill>
                <a:latin typeface="Bitstream Charter"/>
                <a:ea typeface="Bitstream Charter"/>
                <a:cs typeface="Bitstream Charter"/>
                <a:sym typeface="Bitstream Charter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36" name="Retângulo"/>
          <p:cNvSpPr/>
          <p:nvPr/>
        </p:nvSpPr>
        <p:spPr>
          <a:xfrm>
            <a:off x="666750" y="1066800"/>
            <a:ext cx="10858500" cy="28575"/>
          </a:xfrm>
          <a:prstGeom prst="rect">
            <a:avLst/>
          </a:prstGeom>
          <a:solidFill>
            <a:srgbClr val="F58220"/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37" name="Retângulo Arredondado"/>
          <p:cNvSpPr/>
          <p:nvPr/>
        </p:nvSpPr>
        <p:spPr>
          <a:xfrm>
            <a:off x="666750" y="1476375"/>
            <a:ext cx="5095875" cy="4286250"/>
          </a:xfrm>
          <a:prstGeom prst="roundRect">
            <a:avLst>
              <a:gd name="adj" fmla="val 5333"/>
            </a:avLst>
          </a:prstGeom>
          <a:solidFill>
            <a:srgbClr val="F2F6F9"/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38" name="Retângulo Arredondado"/>
          <p:cNvSpPr/>
          <p:nvPr/>
        </p:nvSpPr>
        <p:spPr>
          <a:xfrm>
            <a:off x="6429375" y="1476375"/>
            <a:ext cx="5095875" cy="4286250"/>
          </a:xfrm>
          <a:prstGeom prst="roundRect">
            <a:avLst>
              <a:gd name="adj" fmla="val 5333"/>
            </a:avLst>
          </a:prstGeom>
          <a:solidFill>
            <a:srgbClr val="F6F3EE"/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39" name="01"/>
          <p:cNvSpPr txBox="1"/>
          <p:nvPr/>
        </p:nvSpPr>
        <p:spPr>
          <a:xfrm>
            <a:off x="1045844" y="1809750"/>
            <a:ext cx="575311" cy="571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>
            <a:lvl1pPr>
              <a:defRPr b="1" sz="2800">
                <a:solidFill>
                  <a:srgbClr val="176B9A"/>
                </a:solidFill>
                <a:latin typeface="Bitstream Charter"/>
                <a:ea typeface="Bitstream Charter"/>
                <a:cs typeface="Bitstream Charter"/>
                <a:sym typeface="Bitstream Charter"/>
              </a:defRPr>
            </a:lvl1pPr>
          </a:lstStyle>
          <a:p>
            <a:pPr/>
            <a:r>
              <a:t>01</a:t>
            </a:r>
          </a:p>
        </p:txBody>
      </p:sp>
      <p:sp>
        <p:nvSpPr>
          <p:cNvPr id="40" name="Acesso e consentimento"/>
          <p:cNvSpPr txBox="1"/>
          <p:nvPr/>
        </p:nvSpPr>
        <p:spPr>
          <a:xfrm>
            <a:off x="1045844" y="2476500"/>
            <a:ext cx="3909061" cy="457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>
            <a:lvl1pPr>
              <a:defRPr b="1" sz="2100">
                <a:solidFill>
                  <a:srgbClr val="071B33"/>
                </a:solidFill>
                <a:latin typeface="Bitstream Charter"/>
                <a:ea typeface="Bitstream Charter"/>
                <a:cs typeface="Bitstream Charter"/>
                <a:sym typeface="Bitstream Charter"/>
              </a:defRPr>
            </a:lvl1pPr>
          </a:lstStyle>
          <a:p>
            <a:pPr/>
            <a:r>
              <a:t>Acesso e consentimento</a:t>
            </a:r>
          </a:p>
        </p:txBody>
      </p:sp>
      <p:sp>
        <p:nvSpPr>
          <p:cNvPr id="41" name="Construção do fluxo autenticado entre frontend, Gateway, BFF e serviço de consentimento."/>
          <p:cNvSpPr txBox="1"/>
          <p:nvPr/>
        </p:nvSpPr>
        <p:spPr>
          <a:xfrm>
            <a:off x="1045844" y="3095625"/>
            <a:ext cx="3956686" cy="857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>
            <a:lvl1pPr>
              <a:defRPr sz="1500">
                <a:solidFill>
                  <a:srgbClr val="14273D"/>
                </a:solidFill>
                <a:latin typeface="Bitstream Charter"/>
                <a:ea typeface="Bitstream Charter"/>
                <a:cs typeface="Bitstream Charter"/>
                <a:sym typeface="Bitstream Charter"/>
              </a:defRPr>
            </a:lvl1pPr>
          </a:lstStyle>
          <a:p>
            <a:pPr/>
            <a:r>
              <a:t>Construção do fluxo autenticado entre frontend, Gateway, BFF e serviço de consentimento.</a:t>
            </a:r>
          </a:p>
        </p:txBody>
      </p:sp>
      <p:sp>
        <p:nvSpPr>
          <p:cNvPr id="42" name="Círculo"/>
          <p:cNvSpPr/>
          <p:nvPr/>
        </p:nvSpPr>
        <p:spPr>
          <a:xfrm>
            <a:off x="1000125" y="4314825"/>
            <a:ext cx="85725" cy="85725"/>
          </a:xfrm>
          <a:prstGeom prst="roundRect">
            <a:avLst>
              <a:gd name="adj" fmla="val 50000"/>
            </a:avLst>
          </a:prstGeom>
          <a:solidFill>
            <a:srgbClr val="176B9A"/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43" name="Configuração de autenticação e escopos"/>
          <p:cNvSpPr txBox="1"/>
          <p:nvPr/>
        </p:nvSpPr>
        <p:spPr>
          <a:xfrm>
            <a:off x="1255394" y="4238625"/>
            <a:ext cx="3699511" cy="323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>
            <a:lvl1pPr>
              <a:defRPr sz="1300">
                <a:solidFill>
                  <a:srgbClr val="14273D"/>
                </a:solidFill>
                <a:latin typeface="Bitstream Charter"/>
                <a:ea typeface="Bitstream Charter"/>
                <a:cs typeface="Bitstream Charter"/>
                <a:sym typeface="Bitstream Charter"/>
              </a:defRPr>
            </a:lvl1pPr>
          </a:lstStyle>
          <a:p>
            <a:pPr/>
            <a:r>
              <a:t>Configuração de autenticação e escopos</a:t>
            </a:r>
          </a:p>
        </p:txBody>
      </p:sp>
      <p:sp>
        <p:nvSpPr>
          <p:cNvPr id="44" name="Círculo"/>
          <p:cNvSpPr/>
          <p:nvPr/>
        </p:nvSpPr>
        <p:spPr>
          <a:xfrm>
            <a:off x="1000125" y="4791075"/>
            <a:ext cx="85725" cy="85725"/>
          </a:xfrm>
          <a:prstGeom prst="roundRect">
            <a:avLst>
              <a:gd name="adj" fmla="val 50000"/>
            </a:avLst>
          </a:prstGeom>
          <a:solidFill>
            <a:srgbClr val="176B9A"/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45" name="Integração das rotas de consentimento"/>
          <p:cNvSpPr txBox="1"/>
          <p:nvPr/>
        </p:nvSpPr>
        <p:spPr>
          <a:xfrm>
            <a:off x="1255394" y="4714875"/>
            <a:ext cx="3699511" cy="323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>
            <a:lvl1pPr>
              <a:defRPr sz="1300">
                <a:solidFill>
                  <a:srgbClr val="14273D"/>
                </a:solidFill>
                <a:latin typeface="Bitstream Charter"/>
                <a:ea typeface="Bitstream Charter"/>
                <a:cs typeface="Bitstream Charter"/>
                <a:sym typeface="Bitstream Charter"/>
              </a:defRPr>
            </a:lvl1pPr>
          </a:lstStyle>
          <a:p>
            <a:pPr/>
            <a:r>
              <a:t>Integração das rotas de consentimento</a:t>
            </a:r>
          </a:p>
        </p:txBody>
      </p:sp>
      <p:sp>
        <p:nvSpPr>
          <p:cNvPr id="46" name="02"/>
          <p:cNvSpPr txBox="1"/>
          <p:nvPr/>
        </p:nvSpPr>
        <p:spPr>
          <a:xfrm>
            <a:off x="6808469" y="1809750"/>
            <a:ext cx="575311" cy="571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>
            <a:lvl1pPr>
              <a:defRPr b="1" sz="2800">
                <a:solidFill>
                  <a:srgbClr val="F58220"/>
                </a:solidFill>
                <a:latin typeface="Bitstream Charter"/>
                <a:ea typeface="Bitstream Charter"/>
                <a:cs typeface="Bitstream Charter"/>
                <a:sym typeface="Bitstream Charter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47" name="Extração via Microsoft Graph"/>
          <p:cNvSpPr txBox="1"/>
          <p:nvPr/>
        </p:nvSpPr>
        <p:spPr>
          <a:xfrm>
            <a:off x="6808469" y="2476500"/>
            <a:ext cx="4004311" cy="457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>
            <a:lvl1pPr>
              <a:defRPr b="1" sz="2100">
                <a:solidFill>
                  <a:srgbClr val="071B33"/>
                </a:solidFill>
                <a:latin typeface="Bitstream Charter"/>
                <a:ea typeface="Bitstream Charter"/>
                <a:cs typeface="Bitstream Charter"/>
                <a:sym typeface="Bitstream Charter"/>
              </a:defRPr>
            </a:lvl1pPr>
          </a:lstStyle>
          <a:p>
            <a:pPr/>
            <a:r>
              <a:t>Extração via Microsoft Graph</a:t>
            </a:r>
          </a:p>
        </p:txBody>
      </p:sp>
      <p:sp>
        <p:nvSpPr>
          <p:cNvPr id="48" name="Estruturação do processamento assíncrono para consultar, organizar e armazenar e-mails e transcrições."/>
          <p:cNvSpPr txBox="1"/>
          <p:nvPr/>
        </p:nvSpPr>
        <p:spPr>
          <a:xfrm>
            <a:off x="6808469" y="3095625"/>
            <a:ext cx="3956686" cy="952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>
            <a:lvl1pPr>
              <a:defRPr sz="1500">
                <a:solidFill>
                  <a:srgbClr val="14273D"/>
                </a:solidFill>
                <a:latin typeface="Bitstream Charter"/>
                <a:ea typeface="Bitstream Charter"/>
                <a:cs typeface="Bitstream Charter"/>
                <a:sym typeface="Bitstream Charter"/>
              </a:defRPr>
            </a:lvl1pPr>
          </a:lstStyle>
          <a:p>
            <a:pPr/>
            <a:r>
              <a:t>Estruturação do processamento assíncrono para consultar, organizar e armazenar e-mails e transcrições.</a:t>
            </a:r>
          </a:p>
        </p:txBody>
      </p:sp>
      <p:sp>
        <p:nvSpPr>
          <p:cNvPr id="49" name="Círculo"/>
          <p:cNvSpPr/>
          <p:nvPr/>
        </p:nvSpPr>
        <p:spPr>
          <a:xfrm>
            <a:off x="6762750" y="4314825"/>
            <a:ext cx="85725" cy="85725"/>
          </a:xfrm>
          <a:prstGeom prst="roundRect">
            <a:avLst>
              <a:gd name="adj" fmla="val 50000"/>
            </a:avLst>
          </a:prstGeom>
          <a:solidFill>
            <a:srgbClr val="F58220"/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50" name="Mensageria e processamento por Lambda"/>
          <p:cNvSpPr txBox="1"/>
          <p:nvPr/>
        </p:nvSpPr>
        <p:spPr>
          <a:xfrm>
            <a:off x="7018019" y="4238625"/>
            <a:ext cx="3794761" cy="323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>
            <a:lvl1pPr>
              <a:defRPr sz="1300">
                <a:solidFill>
                  <a:srgbClr val="14273D"/>
                </a:solidFill>
                <a:latin typeface="Bitstream Charter"/>
                <a:ea typeface="Bitstream Charter"/>
                <a:cs typeface="Bitstream Charter"/>
                <a:sym typeface="Bitstream Charter"/>
              </a:defRPr>
            </a:lvl1pPr>
          </a:lstStyle>
          <a:p>
            <a:pPr/>
            <a:r>
              <a:t>Mensageria e processamento por Lambda</a:t>
            </a:r>
          </a:p>
        </p:txBody>
      </p:sp>
      <p:sp>
        <p:nvSpPr>
          <p:cNvPr id="51" name="Círculo"/>
          <p:cNvSpPr/>
          <p:nvPr/>
        </p:nvSpPr>
        <p:spPr>
          <a:xfrm>
            <a:off x="6762750" y="4791075"/>
            <a:ext cx="85725" cy="85725"/>
          </a:xfrm>
          <a:prstGeom prst="roundRect">
            <a:avLst>
              <a:gd name="adj" fmla="val 50000"/>
            </a:avLst>
          </a:prstGeom>
          <a:solidFill>
            <a:srgbClr val="F58220"/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52" name="Organização dos arquivos no S3"/>
          <p:cNvSpPr txBox="1"/>
          <p:nvPr/>
        </p:nvSpPr>
        <p:spPr>
          <a:xfrm>
            <a:off x="7018019" y="4714875"/>
            <a:ext cx="3794761" cy="323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>
            <a:lvl1pPr>
              <a:defRPr sz="1300">
                <a:solidFill>
                  <a:srgbClr val="14273D"/>
                </a:solidFill>
                <a:latin typeface="Bitstream Charter"/>
                <a:ea typeface="Bitstream Charter"/>
                <a:cs typeface="Bitstream Charter"/>
                <a:sym typeface="Bitstream Charter"/>
              </a:defRPr>
            </a:lvl1pPr>
          </a:lstStyle>
          <a:p>
            <a:pPr/>
            <a:r>
              <a:t>Organização dos arquivos no S3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Visão da arquitetura e escopo da atuação"/>
          <p:cNvSpPr txBox="1"/>
          <p:nvPr/>
        </p:nvSpPr>
        <p:spPr>
          <a:xfrm>
            <a:off x="712469" y="381000"/>
            <a:ext cx="9909811" cy="6191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>
            <a:lvl1pPr>
              <a:defRPr b="1" sz="2500">
                <a:solidFill>
                  <a:srgbClr val="071B33"/>
                </a:solidFill>
                <a:latin typeface="Bitstream Charter"/>
                <a:ea typeface="Bitstream Charter"/>
                <a:cs typeface="Bitstream Charter"/>
                <a:sym typeface="Bitstream Charter"/>
              </a:defRPr>
            </a:lvl1pPr>
          </a:lstStyle>
          <a:p>
            <a:pPr/>
            <a:r>
              <a:t>Visão da arquitetura e escopo da atuação</a:t>
            </a:r>
          </a:p>
        </p:txBody>
      </p:sp>
      <p:sp>
        <p:nvSpPr>
          <p:cNvPr id="57" name="03"/>
          <p:cNvSpPr txBox="1"/>
          <p:nvPr/>
        </p:nvSpPr>
        <p:spPr>
          <a:xfrm>
            <a:off x="11094719" y="457200"/>
            <a:ext cx="384811" cy="3333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>
            <a:lvl1pPr algn="r">
              <a:defRPr b="1" sz="1100">
                <a:solidFill>
                  <a:srgbClr val="F58220"/>
                </a:solidFill>
                <a:latin typeface="Bitstream Charter"/>
                <a:ea typeface="Bitstream Charter"/>
                <a:cs typeface="Bitstream Charter"/>
                <a:sym typeface="Bitstream Charter"/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58" name="Retângulo"/>
          <p:cNvSpPr/>
          <p:nvPr/>
        </p:nvSpPr>
        <p:spPr>
          <a:xfrm>
            <a:off x="666750" y="1066800"/>
            <a:ext cx="10858500" cy="28575"/>
          </a:xfrm>
          <a:prstGeom prst="rect">
            <a:avLst/>
          </a:prstGeom>
          <a:solidFill>
            <a:srgbClr val="F58220"/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pic>
        <p:nvPicPr>
          <p:cNvPr id="59" name="image.png" descr="image.png"/>
          <p:cNvPicPr>
            <a:picLocks noChangeAspect="1"/>
          </p:cNvPicPr>
          <p:nvPr/>
        </p:nvPicPr>
        <p:blipFill>
          <a:blip r:embed="rId3">
            <a:extLst/>
          </a:blip>
          <a:srcRect l="0" t="12000" r="0" b="0"/>
          <a:stretch>
            <a:fillRect/>
          </a:stretch>
        </p:blipFill>
        <p:spPr>
          <a:xfrm>
            <a:off x="619125" y="1190624"/>
            <a:ext cx="10953750" cy="4953001"/>
          </a:xfrm>
          <a:prstGeom prst="rect">
            <a:avLst/>
          </a:prstGeom>
          <a:ln w="12700">
            <a:miter lim="400000"/>
          </a:ln>
        </p:spPr>
      </p:pic>
      <p:sp>
        <p:nvSpPr>
          <p:cNvPr id="60" name="Retângulo Arredondado"/>
          <p:cNvSpPr/>
          <p:nvPr/>
        </p:nvSpPr>
        <p:spPr>
          <a:xfrm>
            <a:off x="8439150" y="5962650"/>
            <a:ext cx="3143250" cy="428625"/>
          </a:xfrm>
          <a:prstGeom prst="roundRect">
            <a:avLst>
              <a:gd name="adj" fmla="val 22222"/>
            </a:avLst>
          </a:prstGeom>
          <a:solidFill>
            <a:srgbClr val="071B33"/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61" name="Laranja: componentes desta sprint"/>
          <p:cNvSpPr txBox="1"/>
          <p:nvPr/>
        </p:nvSpPr>
        <p:spPr>
          <a:xfrm>
            <a:off x="8665844" y="6019800"/>
            <a:ext cx="2670811" cy="2857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>
            <a:lvl1pPr algn="ctr">
              <a:defRPr b="1" sz="110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  <a:sym typeface="Bitstream Charter"/>
              </a:defRPr>
            </a:lvl1pPr>
          </a:lstStyle>
          <a:p>
            <a:pPr/>
            <a:r>
              <a:t>Laranja: componentes desta sprint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Jornada de acesso e consentimento"/>
          <p:cNvSpPr txBox="1"/>
          <p:nvPr/>
        </p:nvSpPr>
        <p:spPr>
          <a:xfrm>
            <a:off x="712469" y="381000"/>
            <a:ext cx="9909811" cy="6191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>
            <a:lvl1pPr>
              <a:defRPr b="1" sz="2500">
                <a:solidFill>
                  <a:srgbClr val="071B33"/>
                </a:solidFill>
                <a:latin typeface="Bitstream Charter"/>
                <a:ea typeface="Bitstream Charter"/>
                <a:cs typeface="Bitstream Charter"/>
                <a:sym typeface="Bitstream Charter"/>
              </a:defRPr>
            </a:lvl1pPr>
          </a:lstStyle>
          <a:p>
            <a:pPr/>
            <a:r>
              <a:t>Jornada de acesso e consentimento</a:t>
            </a:r>
          </a:p>
        </p:txBody>
      </p:sp>
      <p:sp>
        <p:nvSpPr>
          <p:cNvPr id="66" name="04"/>
          <p:cNvSpPr txBox="1"/>
          <p:nvPr/>
        </p:nvSpPr>
        <p:spPr>
          <a:xfrm>
            <a:off x="11094719" y="457200"/>
            <a:ext cx="384811" cy="3333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>
            <a:lvl1pPr algn="r">
              <a:defRPr b="1" sz="1100">
                <a:solidFill>
                  <a:srgbClr val="F58220"/>
                </a:solidFill>
                <a:latin typeface="Bitstream Charter"/>
                <a:ea typeface="Bitstream Charter"/>
                <a:cs typeface="Bitstream Charter"/>
                <a:sym typeface="Bitstream Charter"/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67" name="Retângulo"/>
          <p:cNvSpPr/>
          <p:nvPr/>
        </p:nvSpPr>
        <p:spPr>
          <a:xfrm>
            <a:off x="666750" y="1066800"/>
            <a:ext cx="10858500" cy="28575"/>
          </a:xfrm>
          <a:prstGeom prst="rect">
            <a:avLst/>
          </a:prstGeom>
          <a:solidFill>
            <a:srgbClr val="F58220"/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68" name="Retângulo Arredondado"/>
          <p:cNvSpPr/>
          <p:nvPr/>
        </p:nvSpPr>
        <p:spPr>
          <a:xfrm>
            <a:off x="666750" y="1666875"/>
            <a:ext cx="2333625" cy="2857500"/>
          </a:xfrm>
          <a:prstGeom prst="roundRect">
            <a:avLst>
              <a:gd name="adj" fmla="val 8980"/>
            </a:avLst>
          </a:prstGeom>
          <a:solidFill>
            <a:srgbClr val="F2F6F9"/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69" name="Círculo"/>
          <p:cNvSpPr/>
          <p:nvPr/>
        </p:nvSpPr>
        <p:spPr>
          <a:xfrm>
            <a:off x="904875" y="1924050"/>
            <a:ext cx="476250" cy="476250"/>
          </a:xfrm>
          <a:prstGeom prst="roundRect">
            <a:avLst>
              <a:gd name="adj" fmla="val 50000"/>
            </a:avLst>
          </a:prstGeom>
          <a:solidFill>
            <a:srgbClr val="176B9A"/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70" name="1"/>
          <p:cNvSpPr txBox="1"/>
          <p:nvPr/>
        </p:nvSpPr>
        <p:spPr>
          <a:xfrm>
            <a:off x="950594" y="1952625"/>
            <a:ext cx="384811" cy="4000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>
            <a:lvl1pPr algn="ctr">
              <a:defRPr b="1" sz="170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  <a:sym typeface="Bitstream Charter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71" name="Aplicação no PO"/>
          <p:cNvSpPr txBox="1"/>
          <p:nvPr/>
        </p:nvSpPr>
        <p:spPr>
          <a:xfrm>
            <a:off x="950594" y="2619375"/>
            <a:ext cx="1765937" cy="552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>
            <a:lvl1pPr>
              <a:defRPr b="1" sz="1400">
                <a:solidFill>
                  <a:srgbClr val="071B33"/>
                </a:solidFill>
                <a:latin typeface="Bitstream Charter"/>
                <a:ea typeface="Bitstream Charter"/>
                <a:cs typeface="Bitstream Charter"/>
                <a:sym typeface="Bitstream Charter"/>
              </a:defRPr>
            </a:lvl1pPr>
          </a:lstStyle>
          <a:p>
            <a:pPr/>
            <a:r>
              <a:t>Aplicação no PO</a:t>
            </a:r>
          </a:p>
        </p:txBody>
      </p:sp>
      <p:sp>
        <p:nvSpPr>
          <p:cNvPr id="72" name="Autorização para criação da aplicação"/>
          <p:cNvSpPr txBox="1"/>
          <p:nvPr/>
        </p:nvSpPr>
        <p:spPr>
          <a:xfrm>
            <a:off x="950594" y="3333750"/>
            <a:ext cx="1765937" cy="800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>
            <a:lvl1pPr>
              <a:defRPr sz="1300">
                <a:solidFill>
                  <a:srgbClr val="5E6E7F"/>
                </a:solidFill>
                <a:latin typeface="Bitstream Charter"/>
                <a:ea typeface="Bitstream Charter"/>
                <a:cs typeface="Bitstream Charter"/>
                <a:sym typeface="Bitstream Charter"/>
              </a:defRPr>
            </a:lvl1pPr>
          </a:lstStyle>
          <a:p>
            <a:pPr/>
            <a:r>
              <a:t>Autorização para criação da aplicação</a:t>
            </a:r>
          </a:p>
        </p:txBody>
      </p:sp>
      <p:sp>
        <p:nvSpPr>
          <p:cNvPr id="73" name="›"/>
          <p:cNvSpPr txBox="1"/>
          <p:nvPr/>
        </p:nvSpPr>
        <p:spPr>
          <a:xfrm>
            <a:off x="3093720" y="2619375"/>
            <a:ext cx="241936" cy="5238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>
            <a:lvl1pPr algn="ctr">
              <a:defRPr b="1" sz="2800">
                <a:solidFill>
                  <a:srgbClr val="F58220"/>
                </a:solidFill>
                <a:latin typeface="Bitstream Charter"/>
                <a:ea typeface="Bitstream Charter"/>
                <a:cs typeface="Bitstream Charter"/>
                <a:sym typeface="Bitstream Charter"/>
              </a:defRPr>
            </a:lvl1pPr>
          </a:lstStyle>
          <a:p>
            <a:pPr/>
            <a:r>
              <a:t>›</a:t>
            </a:r>
          </a:p>
        </p:txBody>
      </p:sp>
      <p:sp>
        <p:nvSpPr>
          <p:cNvPr id="74" name="Retângulo Arredondado"/>
          <p:cNvSpPr/>
          <p:nvPr/>
        </p:nvSpPr>
        <p:spPr>
          <a:xfrm>
            <a:off x="3429000" y="1666875"/>
            <a:ext cx="2333625" cy="2857500"/>
          </a:xfrm>
          <a:prstGeom prst="roundRect">
            <a:avLst>
              <a:gd name="adj" fmla="val 8980"/>
            </a:avLst>
          </a:prstGeom>
          <a:solidFill>
            <a:srgbClr val="F2F6F9"/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75" name="Círculo"/>
          <p:cNvSpPr/>
          <p:nvPr/>
        </p:nvSpPr>
        <p:spPr>
          <a:xfrm>
            <a:off x="3667125" y="1924050"/>
            <a:ext cx="476250" cy="476250"/>
          </a:xfrm>
          <a:prstGeom prst="roundRect">
            <a:avLst>
              <a:gd name="adj" fmla="val 50000"/>
            </a:avLst>
          </a:prstGeom>
          <a:solidFill>
            <a:srgbClr val="176B9A"/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76" name="2"/>
          <p:cNvSpPr txBox="1"/>
          <p:nvPr/>
        </p:nvSpPr>
        <p:spPr>
          <a:xfrm>
            <a:off x="3712845" y="1952625"/>
            <a:ext cx="384811" cy="4000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>
            <a:lvl1pPr algn="ctr">
              <a:defRPr b="1" sz="170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  <a:sym typeface="Bitstream Charter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77" name="Azure AD"/>
          <p:cNvSpPr txBox="1"/>
          <p:nvPr/>
        </p:nvSpPr>
        <p:spPr>
          <a:xfrm>
            <a:off x="3712845" y="2619375"/>
            <a:ext cx="1765936" cy="552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>
            <a:lvl1pPr>
              <a:defRPr b="1" sz="1600">
                <a:solidFill>
                  <a:srgbClr val="071B33"/>
                </a:solidFill>
                <a:latin typeface="Bitstream Charter"/>
                <a:ea typeface="Bitstream Charter"/>
                <a:cs typeface="Bitstream Charter"/>
                <a:sym typeface="Bitstream Charter"/>
              </a:defRPr>
            </a:lvl1pPr>
          </a:lstStyle>
          <a:p>
            <a:pPr/>
            <a:r>
              <a:t>Azure AD</a:t>
            </a:r>
          </a:p>
        </p:txBody>
      </p:sp>
      <p:sp>
        <p:nvSpPr>
          <p:cNvPr id="78" name="Configuração do fluxo de autenticação"/>
          <p:cNvSpPr txBox="1"/>
          <p:nvPr/>
        </p:nvSpPr>
        <p:spPr>
          <a:xfrm>
            <a:off x="3712845" y="3333750"/>
            <a:ext cx="1765936" cy="800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>
            <a:lvl1pPr>
              <a:defRPr sz="1300">
                <a:solidFill>
                  <a:srgbClr val="5E6E7F"/>
                </a:solidFill>
                <a:latin typeface="Bitstream Charter"/>
                <a:ea typeface="Bitstream Charter"/>
                <a:cs typeface="Bitstream Charter"/>
                <a:sym typeface="Bitstream Charter"/>
              </a:defRPr>
            </a:lvl1pPr>
          </a:lstStyle>
          <a:p>
            <a:pPr/>
            <a:r>
              <a:t>Configuração do fluxo de autenticação</a:t>
            </a:r>
          </a:p>
        </p:txBody>
      </p:sp>
      <p:sp>
        <p:nvSpPr>
          <p:cNvPr id="79" name="›"/>
          <p:cNvSpPr txBox="1"/>
          <p:nvPr/>
        </p:nvSpPr>
        <p:spPr>
          <a:xfrm>
            <a:off x="5855970" y="2619375"/>
            <a:ext cx="241936" cy="5238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>
            <a:lvl1pPr algn="ctr">
              <a:defRPr b="1" sz="2800">
                <a:solidFill>
                  <a:srgbClr val="F58220"/>
                </a:solidFill>
                <a:latin typeface="Bitstream Charter"/>
                <a:ea typeface="Bitstream Charter"/>
                <a:cs typeface="Bitstream Charter"/>
                <a:sym typeface="Bitstream Charter"/>
              </a:defRPr>
            </a:lvl1pPr>
          </a:lstStyle>
          <a:p>
            <a:pPr/>
            <a:r>
              <a:t>›</a:t>
            </a:r>
          </a:p>
        </p:txBody>
      </p:sp>
      <p:sp>
        <p:nvSpPr>
          <p:cNvPr id="80" name="Retângulo Arredondado"/>
          <p:cNvSpPr/>
          <p:nvPr/>
        </p:nvSpPr>
        <p:spPr>
          <a:xfrm>
            <a:off x="6191250" y="1666875"/>
            <a:ext cx="2333625" cy="2857500"/>
          </a:xfrm>
          <a:prstGeom prst="roundRect">
            <a:avLst>
              <a:gd name="adj" fmla="val 8980"/>
            </a:avLst>
          </a:prstGeom>
          <a:solidFill>
            <a:srgbClr val="F2F6F9"/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81" name="Círculo"/>
          <p:cNvSpPr/>
          <p:nvPr/>
        </p:nvSpPr>
        <p:spPr>
          <a:xfrm>
            <a:off x="6429375" y="1924050"/>
            <a:ext cx="476250" cy="476250"/>
          </a:xfrm>
          <a:prstGeom prst="roundRect">
            <a:avLst>
              <a:gd name="adj" fmla="val 50000"/>
            </a:avLst>
          </a:prstGeom>
          <a:solidFill>
            <a:srgbClr val="176B9A"/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82" name="3"/>
          <p:cNvSpPr txBox="1"/>
          <p:nvPr/>
        </p:nvSpPr>
        <p:spPr>
          <a:xfrm>
            <a:off x="6475095" y="1952625"/>
            <a:ext cx="384811" cy="4000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>
            <a:lvl1pPr algn="ctr">
              <a:defRPr b="1" sz="170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  <a:sym typeface="Bitstream Charter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83" name="Client ID do CH"/>
          <p:cNvSpPr txBox="1"/>
          <p:nvPr/>
        </p:nvSpPr>
        <p:spPr>
          <a:xfrm>
            <a:off x="6475095" y="2619375"/>
            <a:ext cx="1765936" cy="552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>
            <a:lvl1pPr>
              <a:defRPr b="1" sz="1400">
                <a:solidFill>
                  <a:srgbClr val="071B33"/>
                </a:solidFill>
                <a:latin typeface="Bitstream Charter"/>
                <a:ea typeface="Bitstream Charter"/>
                <a:cs typeface="Bitstream Charter"/>
                <a:sym typeface="Bitstream Charter"/>
              </a:defRPr>
            </a:lvl1pPr>
          </a:lstStyle>
          <a:p>
            <a:pPr/>
            <a:r>
              <a:t>Client ID do CH</a:t>
            </a:r>
          </a:p>
        </p:txBody>
      </p:sp>
      <p:sp>
        <p:nvSpPr>
          <p:cNvPr id="84" name="Associação dos escopos necessários"/>
          <p:cNvSpPr txBox="1"/>
          <p:nvPr/>
        </p:nvSpPr>
        <p:spPr>
          <a:xfrm>
            <a:off x="6475095" y="3333750"/>
            <a:ext cx="1765936" cy="800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>
            <a:lvl1pPr>
              <a:defRPr sz="1300">
                <a:solidFill>
                  <a:srgbClr val="5E6E7F"/>
                </a:solidFill>
                <a:latin typeface="Bitstream Charter"/>
                <a:ea typeface="Bitstream Charter"/>
                <a:cs typeface="Bitstream Charter"/>
                <a:sym typeface="Bitstream Charter"/>
              </a:defRPr>
            </a:lvl1pPr>
          </a:lstStyle>
          <a:p>
            <a:pPr/>
            <a:r>
              <a:t>Associação dos escopos necessários</a:t>
            </a:r>
          </a:p>
        </p:txBody>
      </p:sp>
      <p:sp>
        <p:nvSpPr>
          <p:cNvPr id="85" name="›"/>
          <p:cNvSpPr txBox="1"/>
          <p:nvPr/>
        </p:nvSpPr>
        <p:spPr>
          <a:xfrm>
            <a:off x="8618219" y="2619375"/>
            <a:ext cx="241936" cy="5238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>
            <a:lvl1pPr algn="ctr">
              <a:defRPr b="1" sz="2800">
                <a:solidFill>
                  <a:srgbClr val="F58220"/>
                </a:solidFill>
                <a:latin typeface="Bitstream Charter"/>
                <a:ea typeface="Bitstream Charter"/>
                <a:cs typeface="Bitstream Charter"/>
                <a:sym typeface="Bitstream Charter"/>
              </a:defRPr>
            </a:lvl1pPr>
          </a:lstStyle>
          <a:p>
            <a:pPr/>
            <a:r>
              <a:t>›</a:t>
            </a:r>
          </a:p>
        </p:txBody>
      </p:sp>
      <p:sp>
        <p:nvSpPr>
          <p:cNvPr id="86" name="Retângulo Arredondado"/>
          <p:cNvSpPr/>
          <p:nvPr/>
        </p:nvSpPr>
        <p:spPr>
          <a:xfrm>
            <a:off x="8953500" y="1666875"/>
            <a:ext cx="2333625" cy="2857500"/>
          </a:xfrm>
          <a:prstGeom prst="roundRect">
            <a:avLst>
              <a:gd name="adj" fmla="val 8980"/>
            </a:avLst>
          </a:prstGeom>
          <a:solidFill>
            <a:srgbClr val="EDF8F5"/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87" name="Círculo"/>
          <p:cNvSpPr/>
          <p:nvPr/>
        </p:nvSpPr>
        <p:spPr>
          <a:xfrm>
            <a:off x="9191625" y="1924050"/>
            <a:ext cx="476250" cy="476250"/>
          </a:xfrm>
          <a:prstGeom prst="roundRect">
            <a:avLst>
              <a:gd name="adj" fmla="val 50000"/>
            </a:avLst>
          </a:prstGeom>
          <a:solidFill>
            <a:srgbClr val="218A66"/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88" name="4"/>
          <p:cNvSpPr txBox="1"/>
          <p:nvPr/>
        </p:nvSpPr>
        <p:spPr>
          <a:xfrm>
            <a:off x="9237344" y="1952625"/>
            <a:ext cx="384811" cy="4000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>
            <a:lvl1pPr algn="ctr">
              <a:defRPr b="1" sz="170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  <a:sym typeface="Bitstream Charter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89" name="Fluxo autenticado"/>
          <p:cNvSpPr txBox="1"/>
          <p:nvPr/>
        </p:nvSpPr>
        <p:spPr>
          <a:xfrm>
            <a:off x="9237344" y="2619375"/>
            <a:ext cx="1765936" cy="552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>
            <a:lvl1pPr>
              <a:defRPr b="1" sz="1500">
                <a:solidFill>
                  <a:srgbClr val="071B33"/>
                </a:solidFill>
                <a:latin typeface="Bitstream Charter"/>
                <a:ea typeface="Bitstream Charter"/>
                <a:cs typeface="Bitstream Charter"/>
                <a:sym typeface="Bitstream Charter"/>
              </a:defRPr>
            </a:lvl1pPr>
          </a:lstStyle>
          <a:p>
            <a:pPr/>
            <a:r>
              <a:t>Fluxo autenticado</a:t>
            </a:r>
          </a:p>
        </p:txBody>
      </p:sp>
      <p:sp>
        <p:nvSpPr>
          <p:cNvPr id="90" name="Token propagado até o backend"/>
          <p:cNvSpPr txBox="1"/>
          <p:nvPr/>
        </p:nvSpPr>
        <p:spPr>
          <a:xfrm>
            <a:off x="9237344" y="3333750"/>
            <a:ext cx="1765936" cy="800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>
            <a:lvl1pPr>
              <a:defRPr sz="1300">
                <a:solidFill>
                  <a:srgbClr val="5E6E7F"/>
                </a:solidFill>
                <a:latin typeface="Bitstream Charter"/>
                <a:ea typeface="Bitstream Charter"/>
                <a:cs typeface="Bitstream Charter"/>
                <a:sym typeface="Bitstream Charter"/>
              </a:defRPr>
            </a:lvl1pPr>
          </a:lstStyle>
          <a:p>
            <a:pPr/>
            <a:r>
              <a:t>Token propagado até o backend</a:t>
            </a:r>
          </a:p>
        </p:txBody>
      </p:sp>
      <p:sp>
        <p:nvSpPr>
          <p:cNvPr id="91" name="Retângulo Arredondado"/>
          <p:cNvSpPr/>
          <p:nvPr/>
        </p:nvSpPr>
        <p:spPr>
          <a:xfrm>
            <a:off x="666750" y="4953000"/>
            <a:ext cx="10858500" cy="952500"/>
          </a:xfrm>
          <a:prstGeom prst="roundRect">
            <a:avLst>
              <a:gd name="adj" fmla="val 18000"/>
            </a:avLst>
          </a:prstGeom>
          <a:solidFill>
            <a:srgbClr val="071B33"/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92" name="Resultado validado"/>
          <p:cNvSpPr txBox="1"/>
          <p:nvPr/>
        </p:nvSpPr>
        <p:spPr>
          <a:xfrm>
            <a:off x="998219" y="5143500"/>
            <a:ext cx="2099312" cy="266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>
            <a:lvl1pPr>
              <a:defRPr b="1" sz="1100">
                <a:solidFill>
                  <a:srgbClr val="2AA7C9"/>
                </a:solidFill>
                <a:latin typeface="Bitstream Charter"/>
                <a:ea typeface="Bitstream Charter"/>
                <a:cs typeface="Bitstream Charter"/>
                <a:sym typeface="Bitstream Charter"/>
              </a:defRPr>
            </a:lvl1pPr>
          </a:lstStyle>
          <a:p>
            <a:pPr/>
            <a:r>
              <a:t>Resultado validado</a:t>
            </a:r>
          </a:p>
        </p:txBody>
      </p:sp>
      <p:sp>
        <p:nvSpPr>
          <p:cNvPr id="93" name="O usuário acessa o frontend autenticado e a identidade chega às rotas do backend com os escopos necessários."/>
          <p:cNvSpPr txBox="1"/>
          <p:nvPr/>
        </p:nvSpPr>
        <p:spPr>
          <a:xfrm>
            <a:off x="3188970" y="5105400"/>
            <a:ext cx="7814310" cy="476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>
            <a:lvl1pPr>
              <a:defRPr b="1" sz="120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  <a:sym typeface="Bitstream Charter"/>
              </a:defRPr>
            </a:lvl1pPr>
          </a:lstStyle>
          <a:p>
            <a:pPr/>
            <a:r>
              <a:t>O usuário acessa o frontend autenticado e a identidade chega às rotas do backend com os escopos necessários.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Rotas de consentimento"/>
          <p:cNvSpPr txBox="1"/>
          <p:nvPr/>
        </p:nvSpPr>
        <p:spPr>
          <a:xfrm>
            <a:off x="712469" y="381000"/>
            <a:ext cx="9909811" cy="6191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>
            <a:lvl1pPr>
              <a:defRPr b="1" sz="2500">
                <a:solidFill>
                  <a:srgbClr val="071B33"/>
                </a:solidFill>
                <a:latin typeface="Bitstream Charter"/>
                <a:ea typeface="Bitstream Charter"/>
                <a:cs typeface="Bitstream Charter"/>
                <a:sym typeface="Bitstream Charter"/>
              </a:defRPr>
            </a:lvl1pPr>
          </a:lstStyle>
          <a:p>
            <a:pPr/>
            <a:r>
              <a:t>Rotas de consentimento</a:t>
            </a:r>
          </a:p>
        </p:txBody>
      </p:sp>
      <p:sp>
        <p:nvSpPr>
          <p:cNvPr id="98" name="05"/>
          <p:cNvSpPr txBox="1"/>
          <p:nvPr/>
        </p:nvSpPr>
        <p:spPr>
          <a:xfrm>
            <a:off x="11094719" y="457200"/>
            <a:ext cx="384811" cy="3333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>
            <a:lvl1pPr algn="r">
              <a:defRPr b="1" sz="1100">
                <a:solidFill>
                  <a:srgbClr val="F58220"/>
                </a:solidFill>
                <a:latin typeface="Bitstream Charter"/>
                <a:ea typeface="Bitstream Charter"/>
                <a:cs typeface="Bitstream Charter"/>
                <a:sym typeface="Bitstream Charter"/>
              </a:defRPr>
            </a:lvl1pPr>
          </a:lstStyle>
          <a:p>
            <a:pPr/>
            <a:r>
              <a:t>05</a:t>
            </a:r>
          </a:p>
        </p:txBody>
      </p:sp>
      <p:sp>
        <p:nvSpPr>
          <p:cNvPr id="99" name="Retângulo"/>
          <p:cNvSpPr/>
          <p:nvPr/>
        </p:nvSpPr>
        <p:spPr>
          <a:xfrm>
            <a:off x="666750" y="1066800"/>
            <a:ext cx="10858500" cy="28575"/>
          </a:xfrm>
          <a:prstGeom prst="rect">
            <a:avLst/>
          </a:prstGeom>
          <a:solidFill>
            <a:srgbClr val="F58220"/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00" name="Retângulo Arredondado"/>
          <p:cNvSpPr/>
          <p:nvPr/>
        </p:nvSpPr>
        <p:spPr>
          <a:xfrm>
            <a:off x="666750" y="1524000"/>
            <a:ext cx="10858500" cy="1066800"/>
          </a:xfrm>
          <a:prstGeom prst="roundRect">
            <a:avLst>
              <a:gd name="adj" fmla="val 16071"/>
            </a:avLst>
          </a:prstGeom>
          <a:solidFill>
            <a:srgbClr val="F2F6F9"/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01" name="Retângulo Arredondado"/>
          <p:cNvSpPr/>
          <p:nvPr/>
        </p:nvSpPr>
        <p:spPr>
          <a:xfrm>
            <a:off x="904875" y="1781175"/>
            <a:ext cx="1143000" cy="552450"/>
          </a:xfrm>
          <a:prstGeom prst="roundRect">
            <a:avLst>
              <a:gd name="adj" fmla="val 24138"/>
            </a:avLst>
          </a:prstGeom>
          <a:solidFill>
            <a:srgbClr val="176B9A"/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02" name="GET"/>
          <p:cNvSpPr txBox="1"/>
          <p:nvPr/>
        </p:nvSpPr>
        <p:spPr>
          <a:xfrm>
            <a:off x="950594" y="1838325"/>
            <a:ext cx="1051562" cy="4000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>
            <a:lvl1pPr algn="ctr">
              <a:defRPr b="1" sz="160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  <a:sym typeface="Bitstream Charter"/>
              </a:defRPr>
            </a:lvl1pPr>
          </a:lstStyle>
          <a:p>
            <a:pPr/>
            <a:r>
              <a:t>GET</a:t>
            </a:r>
          </a:p>
        </p:txBody>
      </p:sp>
      <p:sp>
        <p:nvSpPr>
          <p:cNvPr id="103" name="/consentos"/>
          <p:cNvSpPr txBox="1"/>
          <p:nvPr/>
        </p:nvSpPr>
        <p:spPr>
          <a:xfrm>
            <a:off x="2426970" y="1695450"/>
            <a:ext cx="3956685" cy="4000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>
            <a:lvl1pPr>
              <a:defRPr b="1" sz="1700">
                <a:solidFill>
                  <a:srgbClr val="071B33"/>
                </a:solidFill>
                <a:latin typeface="Bitstream Charter"/>
                <a:ea typeface="Bitstream Charter"/>
                <a:cs typeface="Bitstream Charter"/>
                <a:sym typeface="Bitstream Charter"/>
              </a:defRPr>
            </a:lvl1pPr>
          </a:lstStyle>
          <a:p>
            <a:pPr/>
            <a:r>
              <a:t>/consentos</a:t>
            </a:r>
          </a:p>
        </p:txBody>
      </p:sp>
      <p:sp>
        <p:nvSpPr>
          <p:cNvPr id="104" name="Consulta o estado atual do consentos"/>
          <p:cNvSpPr txBox="1"/>
          <p:nvPr/>
        </p:nvSpPr>
        <p:spPr>
          <a:xfrm>
            <a:off x="2426970" y="2095500"/>
            <a:ext cx="6195060" cy="323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>
            <a:lvl1pPr>
              <a:defRPr sz="1300">
                <a:solidFill>
                  <a:srgbClr val="5E6E7F"/>
                </a:solidFill>
                <a:latin typeface="Bitstream Charter"/>
                <a:ea typeface="Bitstream Charter"/>
                <a:cs typeface="Bitstream Charter"/>
                <a:sym typeface="Bitstream Charter"/>
              </a:defRPr>
            </a:lvl1pPr>
          </a:lstStyle>
          <a:p>
            <a:pPr/>
            <a:r>
              <a:t>Consulta o estado atual do consentos</a:t>
            </a:r>
          </a:p>
        </p:txBody>
      </p:sp>
      <p:sp>
        <p:nvSpPr>
          <p:cNvPr id="105" name="Gateway  ›  BFF  ›  Serviço de consentimento"/>
          <p:cNvSpPr txBox="1"/>
          <p:nvPr/>
        </p:nvSpPr>
        <p:spPr>
          <a:xfrm>
            <a:off x="7903844" y="1857375"/>
            <a:ext cx="3147061" cy="4286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>
            <a:lvl1pPr algn="ctr">
              <a:defRPr b="1" sz="1100">
                <a:solidFill>
                  <a:srgbClr val="14273D"/>
                </a:solidFill>
                <a:latin typeface="Bitstream Charter"/>
                <a:ea typeface="Bitstream Charter"/>
                <a:cs typeface="Bitstream Charter"/>
                <a:sym typeface="Bitstream Charter"/>
              </a:defRPr>
            </a:lvl1pPr>
          </a:lstStyle>
          <a:p>
            <a:pPr/>
            <a:r>
              <a:t>Gateway  ›  BFF  ›  Serviço de consentimento</a:t>
            </a:r>
          </a:p>
        </p:txBody>
      </p:sp>
      <p:sp>
        <p:nvSpPr>
          <p:cNvPr id="106" name="Retângulo Arredondado"/>
          <p:cNvSpPr/>
          <p:nvPr/>
        </p:nvSpPr>
        <p:spPr>
          <a:xfrm>
            <a:off x="666750" y="2905125"/>
            <a:ext cx="10858500" cy="1066800"/>
          </a:xfrm>
          <a:prstGeom prst="roundRect">
            <a:avLst>
              <a:gd name="adj" fmla="val 16071"/>
            </a:avLst>
          </a:prstGeom>
          <a:solidFill>
            <a:srgbClr val="EDF8F5"/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07" name="Retângulo Arredondado"/>
          <p:cNvSpPr/>
          <p:nvPr/>
        </p:nvSpPr>
        <p:spPr>
          <a:xfrm>
            <a:off x="904875" y="3162300"/>
            <a:ext cx="1143000" cy="552450"/>
          </a:xfrm>
          <a:prstGeom prst="roundRect">
            <a:avLst>
              <a:gd name="adj" fmla="val 24138"/>
            </a:avLst>
          </a:prstGeom>
          <a:solidFill>
            <a:srgbClr val="218A66"/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08" name="POST"/>
          <p:cNvSpPr txBox="1"/>
          <p:nvPr/>
        </p:nvSpPr>
        <p:spPr>
          <a:xfrm>
            <a:off x="950594" y="3219450"/>
            <a:ext cx="1051562" cy="4000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>
            <a:lvl1pPr algn="ctr">
              <a:defRPr b="1" sz="160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  <a:sym typeface="Bitstream Charter"/>
              </a:defRPr>
            </a:lvl1pPr>
          </a:lstStyle>
          <a:p>
            <a:pPr/>
            <a:r>
              <a:t>POST</a:t>
            </a:r>
          </a:p>
        </p:txBody>
      </p:sp>
      <p:sp>
        <p:nvSpPr>
          <p:cNvPr id="109" name="/consentos"/>
          <p:cNvSpPr txBox="1"/>
          <p:nvPr/>
        </p:nvSpPr>
        <p:spPr>
          <a:xfrm>
            <a:off x="2426970" y="3076575"/>
            <a:ext cx="3956685" cy="4000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>
            <a:lvl1pPr>
              <a:defRPr b="1" sz="1700">
                <a:solidFill>
                  <a:srgbClr val="071B33"/>
                </a:solidFill>
                <a:latin typeface="Bitstream Charter"/>
                <a:ea typeface="Bitstream Charter"/>
                <a:cs typeface="Bitstream Charter"/>
                <a:sym typeface="Bitstream Charter"/>
              </a:defRPr>
            </a:lvl1pPr>
          </a:lstStyle>
          <a:p>
            <a:pPr/>
            <a:r>
              <a:t>/consentos</a:t>
            </a:r>
          </a:p>
        </p:txBody>
      </p:sp>
      <p:sp>
        <p:nvSpPr>
          <p:cNvPr id="110" name="Recebe o JSON e registra o consentos"/>
          <p:cNvSpPr txBox="1"/>
          <p:nvPr/>
        </p:nvSpPr>
        <p:spPr>
          <a:xfrm>
            <a:off x="2426970" y="3476625"/>
            <a:ext cx="6195060" cy="323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>
            <a:lvl1pPr>
              <a:defRPr sz="1300">
                <a:solidFill>
                  <a:srgbClr val="5E6E7F"/>
                </a:solidFill>
                <a:latin typeface="Bitstream Charter"/>
                <a:ea typeface="Bitstream Charter"/>
                <a:cs typeface="Bitstream Charter"/>
                <a:sym typeface="Bitstream Charter"/>
              </a:defRPr>
            </a:lvl1pPr>
          </a:lstStyle>
          <a:p>
            <a:pPr/>
            <a:r>
              <a:t>Recebe o JSON e registra o consentos</a:t>
            </a:r>
          </a:p>
        </p:txBody>
      </p:sp>
      <p:sp>
        <p:nvSpPr>
          <p:cNvPr id="111" name="Gateway  ›  BFF  ›  Serviço de consentimento"/>
          <p:cNvSpPr txBox="1"/>
          <p:nvPr/>
        </p:nvSpPr>
        <p:spPr>
          <a:xfrm>
            <a:off x="7903844" y="3238500"/>
            <a:ext cx="3147061" cy="4286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>
            <a:lvl1pPr algn="ctr">
              <a:defRPr b="1" sz="1100">
                <a:solidFill>
                  <a:srgbClr val="14273D"/>
                </a:solidFill>
                <a:latin typeface="Bitstream Charter"/>
                <a:ea typeface="Bitstream Charter"/>
                <a:cs typeface="Bitstream Charter"/>
                <a:sym typeface="Bitstream Charter"/>
              </a:defRPr>
            </a:lvl1pPr>
          </a:lstStyle>
          <a:p>
            <a:pPr/>
            <a:r>
              <a:t>Gateway  ›  BFF  ›  Serviço de consentimento</a:t>
            </a:r>
          </a:p>
        </p:txBody>
      </p:sp>
      <p:sp>
        <p:nvSpPr>
          <p:cNvPr id="112" name="Retângulo Arredondado"/>
          <p:cNvSpPr/>
          <p:nvPr/>
        </p:nvSpPr>
        <p:spPr>
          <a:xfrm>
            <a:off x="666750" y="4286250"/>
            <a:ext cx="10858500" cy="1066800"/>
          </a:xfrm>
          <a:prstGeom prst="roundRect">
            <a:avLst>
              <a:gd name="adj" fmla="val 16071"/>
            </a:avLst>
          </a:prstGeom>
          <a:solidFill>
            <a:srgbClr val="F2F6F9"/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13" name="Retângulo Arredondado"/>
          <p:cNvSpPr/>
          <p:nvPr/>
        </p:nvSpPr>
        <p:spPr>
          <a:xfrm>
            <a:off x="904875" y="4543425"/>
            <a:ext cx="1143000" cy="552450"/>
          </a:xfrm>
          <a:prstGeom prst="roundRect">
            <a:avLst>
              <a:gd name="adj" fmla="val 24138"/>
            </a:avLst>
          </a:prstGeom>
          <a:solidFill>
            <a:srgbClr val="F58220"/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14" name="DELETE"/>
          <p:cNvSpPr txBox="1"/>
          <p:nvPr/>
        </p:nvSpPr>
        <p:spPr>
          <a:xfrm>
            <a:off x="950594" y="4600575"/>
            <a:ext cx="1051562" cy="4000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>
            <a:lvl1pPr algn="ctr">
              <a:defRPr b="1" sz="160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  <a:sym typeface="Bitstream Charter"/>
              </a:defRPr>
            </a:lvl1pPr>
          </a:lstStyle>
          <a:p>
            <a:pPr/>
            <a:r>
              <a:t>DELETE</a:t>
            </a:r>
          </a:p>
        </p:txBody>
      </p:sp>
      <p:sp>
        <p:nvSpPr>
          <p:cNvPr id="115" name="/consentos/{id}"/>
          <p:cNvSpPr txBox="1"/>
          <p:nvPr/>
        </p:nvSpPr>
        <p:spPr>
          <a:xfrm>
            <a:off x="2426970" y="4457700"/>
            <a:ext cx="3956685" cy="4000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>
            <a:lvl1pPr>
              <a:defRPr b="1" sz="1700">
                <a:solidFill>
                  <a:srgbClr val="071B33"/>
                </a:solidFill>
                <a:latin typeface="Bitstream Charter"/>
                <a:ea typeface="Bitstream Charter"/>
                <a:cs typeface="Bitstream Charter"/>
                <a:sym typeface="Bitstream Charter"/>
              </a:defRPr>
            </a:lvl1pPr>
          </a:lstStyle>
          <a:p>
            <a:pPr/>
            <a:r>
              <a:t>/consentos/{id}</a:t>
            </a:r>
          </a:p>
        </p:txBody>
      </p:sp>
      <p:sp>
        <p:nvSpPr>
          <p:cNvPr id="116" name="Remove ou revoga o consentos"/>
          <p:cNvSpPr txBox="1"/>
          <p:nvPr/>
        </p:nvSpPr>
        <p:spPr>
          <a:xfrm>
            <a:off x="2426970" y="4857750"/>
            <a:ext cx="6195060" cy="323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>
            <a:lvl1pPr>
              <a:defRPr sz="1300">
                <a:solidFill>
                  <a:srgbClr val="5E6E7F"/>
                </a:solidFill>
                <a:latin typeface="Bitstream Charter"/>
                <a:ea typeface="Bitstream Charter"/>
                <a:cs typeface="Bitstream Charter"/>
                <a:sym typeface="Bitstream Charter"/>
              </a:defRPr>
            </a:lvl1pPr>
          </a:lstStyle>
          <a:p>
            <a:pPr/>
            <a:r>
              <a:t>Remove ou revoga o consentos</a:t>
            </a:r>
          </a:p>
        </p:txBody>
      </p:sp>
      <p:sp>
        <p:nvSpPr>
          <p:cNvPr id="117" name="Gateway  ›  BFF  ›  Serviço de consentimento"/>
          <p:cNvSpPr txBox="1"/>
          <p:nvPr/>
        </p:nvSpPr>
        <p:spPr>
          <a:xfrm>
            <a:off x="7903844" y="4619625"/>
            <a:ext cx="3147061" cy="4286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>
            <a:lvl1pPr algn="ctr">
              <a:defRPr b="1" sz="1100">
                <a:solidFill>
                  <a:srgbClr val="14273D"/>
                </a:solidFill>
                <a:latin typeface="Bitstream Charter"/>
                <a:ea typeface="Bitstream Charter"/>
                <a:cs typeface="Bitstream Charter"/>
                <a:sym typeface="Bitstream Charter"/>
              </a:defRPr>
            </a:lvl1pPr>
          </a:lstStyle>
          <a:p>
            <a:pPr/>
            <a:r>
              <a:t>Gateway  ›  BFF  ›  Serviço de consentimento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Extração assíncrona via Microsoft Graph"/>
          <p:cNvSpPr txBox="1"/>
          <p:nvPr/>
        </p:nvSpPr>
        <p:spPr>
          <a:xfrm>
            <a:off x="712469" y="381000"/>
            <a:ext cx="9909811" cy="6191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>
            <a:lvl1pPr>
              <a:defRPr b="1" sz="2500">
                <a:solidFill>
                  <a:srgbClr val="071B33"/>
                </a:solidFill>
                <a:latin typeface="Bitstream Charter"/>
                <a:ea typeface="Bitstream Charter"/>
                <a:cs typeface="Bitstream Charter"/>
                <a:sym typeface="Bitstream Charter"/>
              </a:defRPr>
            </a:lvl1pPr>
          </a:lstStyle>
          <a:p>
            <a:pPr/>
            <a:r>
              <a:t>Extração assíncrona via Microsoft Graph</a:t>
            </a:r>
          </a:p>
        </p:txBody>
      </p:sp>
      <p:sp>
        <p:nvSpPr>
          <p:cNvPr id="122" name="06"/>
          <p:cNvSpPr txBox="1"/>
          <p:nvPr/>
        </p:nvSpPr>
        <p:spPr>
          <a:xfrm>
            <a:off x="11094719" y="457200"/>
            <a:ext cx="384811" cy="3333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>
            <a:lvl1pPr algn="r">
              <a:defRPr b="1" sz="1100">
                <a:solidFill>
                  <a:srgbClr val="F58220"/>
                </a:solidFill>
                <a:latin typeface="Bitstream Charter"/>
                <a:ea typeface="Bitstream Charter"/>
                <a:cs typeface="Bitstream Charter"/>
                <a:sym typeface="Bitstream Charter"/>
              </a:defRPr>
            </a:lvl1pPr>
          </a:lstStyle>
          <a:p>
            <a:pPr/>
            <a:r>
              <a:t>06</a:t>
            </a:r>
          </a:p>
        </p:txBody>
      </p:sp>
      <p:sp>
        <p:nvSpPr>
          <p:cNvPr id="123" name="Retângulo"/>
          <p:cNvSpPr/>
          <p:nvPr/>
        </p:nvSpPr>
        <p:spPr>
          <a:xfrm>
            <a:off x="666750" y="1066800"/>
            <a:ext cx="10858500" cy="28575"/>
          </a:xfrm>
          <a:prstGeom prst="rect">
            <a:avLst/>
          </a:prstGeom>
          <a:solidFill>
            <a:srgbClr val="F58220"/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24" name="Retângulo Arredondado"/>
          <p:cNvSpPr/>
          <p:nvPr/>
        </p:nvSpPr>
        <p:spPr>
          <a:xfrm>
            <a:off x="523875" y="1619250"/>
            <a:ext cx="2476500" cy="2428875"/>
          </a:xfrm>
          <a:prstGeom prst="roundRect">
            <a:avLst>
              <a:gd name="adj" fmla="val 8627"/>
            </a:avLst>
          </a:prstGeom>
          <a:solidFill>
            <a:srgbClr val="FFF4E8"/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25" name="1"/>
          <p:cNvSpPr txBox="1"/>
          <p:nvPr/>
        </p:nvSpPr>
        <p:spPr>
          <a:xfrm>
            <a:off x="807719" y="1857375"/>
            <a:ext cx="327661" cy="419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>
            <a:lvl1pPr algn="ctr">
              <a:defRPr b="1" sz="2000">
                <a:solidFill>
                  <a:srgbClr val="F58220"/>
                </a:solidFill>
                <a:latin typeface="Bitstream Charter"/>
                <a:ea typeface="Bitstream Charter"/>
                <a:cs typeface="Bitstream Charter"/>
                <a:sym typeface="Bitstream Charter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126" name="SQS FIFO"/>
          <p:cNvSpPr txBox="1"/>
          <p:nvPr/>
        </p:nvSpPr>
        <p:spPr>
          <a:xfrm>
            <a:off x="807719" y="2428875"/>
            <a:ext cx="1908812" cy="419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>
            <a:lvl1pPr algn="ctr">
              <a:defRPr b="1">
                <a:solidFill>
                  <a:srgbClr val="071B33"/>
                </a:solidFill>
                <a:latin typeface="Bitstream Charter"/>
                <a:ea typeface="Bitstream Charter"/>
                <a:cs typeface="Bitstream Charter"/>
                <a:sym typeface="Bitstream Charter"/>
              </a:defRPr>
            </a:lvl1pPr>
          </a:lstStyle>
          <a:p>
            <a:pPr/>
            <a:r>
              <a:t>SQS FIFO</a:t>
            </a:r>
          </a:p>
        </p:txBody>
      </p:sp>
      <p:sp>
        <p:nvSpPr>
          <p:cNvPr id="127" name="Recebe e ordena as solicitações"/>
          <p:cNvSpPr txBox="1"/>
          <p:nvPr/>
        </p:nvSpPr>
        <p:spPr>
          <a:xfrm>
            <a:off x="855344" y="3048000"/>
            <a:ext cx="1813562" cy="647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>
            <a:lvl1pPr algn="ctr">
              <a:defRPr sz="1200">
                <a:solidFill>
                  <a:srgbClr val="5E6E7F"/>
                </a:solidFill>
                <a:latin typeface="Bitstream Charter"/>
                <a:ea typeface="Bitstream Charter"/>
                <a:cs typeface="Bitstream Charter"/>
                <a:sym typeface="Bitstream Charter"/>
              </a:defRPr>
            </a:lvl1pPr>
          </a:lstStyle>
          <a:p>
            <a:pPr/>
            <a:r>
              <a:t>Recebe e ordena as solicitações</a:t>
            </a:r>
          </a:p>
        </p:txBody>
      </p:sp>
      <p:sp>
        <p:nvSpPr>
          <p:cNvPr id="128" name="›"/>
          <p:cNvSpPr txBox="1"/>
          <p:nvPr/>
        </p:nvSpPr>
        <p:spPr>
          <a:xfrm>
            <a:off x="3093720" y="2505075"/>
            <a:ext cx="241936" cy="4629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>
            <a:lvl1pPr algn="ctr">
              <a:defRPr b="1" sz="2400">
                <a:solidFill>
                  <a:srgbClr val="F58220"/>
                </a:solidFill>
                <a:latin typeface="Bitstream Charter"/>
                <a:ea typeface="Bitstream Charter"/>
                <a:cs typeface="Bitstream Charter"/>
                <a:sym typeface="Bitstream Charter"/>
              </a:defRPr>
            </a:lvl1pPr>
          </a:lstStyle>
          <a:p>
            <a:pPr/>
            <a:r>
              <a:t>›</a:t>
            </a:r>
          </a:p>
        </p:txBody>
      </p:sp>
      <p:sp>
        <p:nvSpPr>
          <p:cNvPr id="129" name="Retângulo Arredondado"/>
          <p:cNvSpPr/>
          <p:nvPr/>
        </p:nvSpPr>
        <p:spPr>
          <a:xfrm>
            <a:off x="3429000" y="1619250"/>
            <a:ext cx="2476500" cy="2428875"/>
          </a:xfrm>
          <a:prstGeom prst="roundRect">
            <a:avLst>
              <a:gd name="adj" fmla="val 8627"/>
            </a:avLst>
          </a:prstGeom>
          <a:solidFill>
            <a:srgbClr val="F2F6F9"/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30" name="2"/>
          <p:cNvSpPr txBox="1"/>
          <p:nvPr/>
        </p:nvSpPr>
        <p:spPr>
          <a:xfrm>
            <a:off x="3712845" y="1857375"/>
            <a:ext cx="327661" cy="419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>
            <a:lvl1pPr algn="ctr">
              <a:defRPr b="1" sz="2000">
                <a:solidFill>
                  <a:srgbClr val="176B9A"/>
                </a:solidFill>
                <a:latin typeface="Bitstream Charter"/>
                <a:ea typeface="Bitstream Charter"/>
                <a:cs typeface="Bitstream Charter"/>
                <a:sym typeface="Bitstream Charter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131" name="Lambda"/>
          <p:cNvSpPr txBox="1"/>
          <p:nvPr/>
        </p:nvSpPr>
        <p:spPr>
          <a:xfrm>
            <a:off x="3712845" y="2428875"/>
            <a:ext cx="1908811" cy="419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>
            <a:lvl1pPr algn="ctr">
              <a:defRPr b="1">
                <a:solidFill>
                  <a:srgbClr val="071B33"/>
                </a:solidFill>
                <a:latin typeface="Bitstream Charter"/>
                <a:ea typeface="Bitstream Charter"/>
                <a:cs typeface="Bitstream Charter"/>
                <a:sym typeface="Bitstream Charter"/>
              </a:defRPr>
            </a:lvl1pPr>
          </a:lstStyle>
          <a:p>
            <a:pPr/>
            <a:r>
              <a:t>Lambda</a:t>
            </a:r>
          </a:p>
        </p:txBody>
      </p:sp>
      <p:sp>
        <p:nvSpPr>
          <p:cNvPr id="132" name="Consome a mensagem e executa a extração"/>
          <p:cNvSpPr txBox="1"/>
          <p:nvPr/>
        </p:nvSpPr>
        <p:spPr>
          <a:xfrm>
            <a:off x="3760470" y="3048000"/>
            <a:ext cx="1813561" cy="647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>
            <a:lvl1pPr algn="ctr">
              <a:defRPr sz="1200">
                <a:solidFill>
                  <a:srgbClr val="5E6E7F"/>
                </a:solidFill>
                <a:latin typeface="Bitstream Charter"/>
                <a:ea typeface="Bitstream Charter"/>
                <a:cs typeface="Bitstream Charter"/>
                <a:sym typeface="Bitstream Charter"/>
              </a:defRPr>
            </a:lvl1pPr>
          </a:lstStyle>
          <a:p>
            <a:pPr/>
            <a:r>
              <a:t>Consome a mensagem e executa a extração</a:t>
            </a:r>
          </a:p>
        </p:txBody>
      </p:sp>
      <p:sp>
        <p:nvSpPr>
          <p:cNvPr id="133" name="›"/>
          <p:cNvSpPr txBox="1"/>
          <p:nvPr/>
        </p:nvSpPr>
        <p:spPr>
          <a:xfrm>
            <a:off x="5998845" y="2505075"/>
            <a:ext cx="241936" cy="4629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>
            <a:lvl1pPr algn="ctr">
              <a:defRPr b="1" sz="2400">
                <a:solidFill>
                  <a:srgbClr val="F58220"/>
                </a:solidFill>
                <a:latin typeface="Bitstream Charter"/>
                <a:ea typeface="Bitstream Charter"/>
                <a:cs typeface="Bitstream Charter"/>
                <a:sym typeface="Bitstream Charter"/>
              </a:defRPr>
            </a:lvl1pPr>
          </a:lstStyle>
          <a:p>
            <a:pPr/>
            <a:r>
              <a:t>›</a:t>
            </a:r>
          </a:p>
        </p:txBody>
      </p:sp>
      <p:sp>
        <p:nvSpPr>
          <p:cNvPr id="134" name="Retângulo Arredondado"/>
          <p:cNvSpPr/>
          <p:nvPr/>
        </p:nvSpPr>
        <p:spPr>
          <a:xfrm>
            <a:off x="6334125" y="1619250"/>
            <a:ext cx="2476500" cy="2428875"/>
          </a:xfrm>
          <a:prstGeom prst="roundRect">
            <a:avLst>
              <a:gd name="adj" fmla="val 8627"/>
            </a:avLst>
          </a:prstGeom>
          <a:solidFill>
            <a:srgbClr val="F2F6F9"/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35" name="3"/>
          <p:cNvSpPr txBox="1"/>
          <p:nvPr/>
        </p:nvSpPr>
        <p:spPr>
          <a:xfrm>
            <a:off x="6617969" y="1857375"/>
            <a:ext cx="327661" cy="419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>
            <a:lvl1pPr algn="ctr">
              <a:defRPr b="1" sz="2000">
                <a:solidFill>
                  <a:srgbClr val="176B9A"/>
                </a:solidFill>
                <a:latin typeface="Bitstream Charter"/>
                <a:ea typeface="Bitstream Charter"/>
                <a:cs typeface="Bitstream Charter"/>
                <a:sym typeface="Bitstream Charter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136" name="Microsoft Graph"/>
          <p:cNvSpPr txBox="1"/>
          <p:nvPr/>
        </p:nvSpPr>
        <p:spPr>
          <a:xfrm>
            <a:off x="6617969" y="2428875"/>
            <a:ext cx="1908811" cy="419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>
            <a:lvl1pPr algn="ctr">
              <a:defRPr b="1">
                <a:solidFill>
                  <a:srgbClr val="071B33"/>
                </a:solidFill>
                <a:latin typeface="Bitstream Charter"/>
                <a:ea typeface="Bitstream Charter"/>
                <a:cs typeface="Bitstream Charter"/>
                <a:sym typeface="Bitstream Charter"/>
              </a:defRPr>
            </a:lvl1pPr>
          </a:lstStyle>
          <a:p>
            <a:pPr/>
            <a:r>
              <a:t>Microsoft Graph</a:t>
            </a:r>
          </a:p>
        </p:txBody>
      </p:sp>
      <p:sp>
        <p:nvSpPr>
          <p:cNvPr id="137" name="Consulta e-mails e transcrições"/>
          <p:cNvSpPr txBox="1"/>
          <p:nvPr/>
        </p:nvSpPr>
        <p:spPr>
          <a:xfrm>
            <a:off x="6665594" y="3048000"/>
            <a:ext cx="1813561" cy="647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>
            <a:lvl1pPr algn="ctr">
              <a:defRPr sz="1200">
                <a:solidFill>
                  <a:srgbClr val="5E6E7F"/>
                </a:solidFill>
                <a:latin typeface="Bitstream Charter"/>
                <a:ea typeface="Bitstream Charter"/>
                <a:cs typeface="Bitstream Charter"/>
                <a:sym typeface="Bitstream Charter"/>
              </a:defRPr>
            </a:lvl1pPr>
          </a:lstStyle>
          <a:p>
            <a:pPr/>
            <a:r>
              <a:t>Consulta e-mails e transcrições</a:t>
            </a:r>
          </a:p>
        </p:txBody>
      </p:sp>
      <p:sp>
        <p:nvSpPr>
          <p:cNvPr id="138" name="›"/>
          <p:cNvSpPr txBox="1"/>
          <p:nvPr/>
        </p:nvSpPr>
        <p:spPr>
          <a:xfrm>
            <a:off x="8903969" y="2505075"/>
            <a:ext cx="241936" cy="4629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>
            <a:lvl1pPr algn="ctr">
              <a:defRPr b="1" sz="2400">
                <a:solidFill>
                  <a:srgbClr val="F58220"/>
                </a:solidFill>
                <a:latin typeface="Bitstream Charter"/>
                <a:ea typeface="Bitstream Charter"/>
                <a:cs typeface="Bitstream Charter"/>
                <a:sym typeface="Bitstream Charter"/>
              </a:defRPr>
            </a:lvl1pPr>
          </a:lstStyle>
          <a:p>
            <a:pPr/>
            <a:r>
              <a:t>›</a:t>
            </a:r>
          </a:p>
        </p:txBody>
      </p:sp>
      <p:sp>
        <p:nvSpPr>
          <p:cNvPr id="139" name="Retângulo Arredondado"/>
          <p:cNvSpPr/>
          <p:nvPr/>
        </p:nvSpPr>
        <p:spPr>
          <a:xfrm>
            <a:off x="9239250" y="1619250"/>
            <a:ext cx="2476500" cy="2428875"/>
          </a:xfrm>
          <a:prstGeom prst="roundRect">
            <a:avLst>
              <a:gd name="adj" fmla="val 8627"/>
            </a:avLst>
          </a:prstGeom>
          <a:solidFill>
            <a:srgbClr val="F2F6F9"/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40" name="4"/>
          <p:cNvSpPr txBox="1"/>
          <p:nvPr/>
        </p:nvSpPr>
        <p:spPr>
          <a:xfrm>
            <a:off x="9523094" y="1857375"/>
            <a:ext cx="327661" cy="419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>
            <a:lvl1pPr algn="ctr">
              <a:defRPr b="1" sz="2000">
                <a:solidFill>
                  <a:srgbClr val="176B9A"/>
                </a:solidFill>
                <a:latin typeface="Bitstream Charter"/>
                <a:ea typeface="Bitstream Charter"/>
                <a:cs typeface="Bitstream Charter"/>
                <a:sym typeface="Bitstream Charter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141" name="Amazon S3"/>
          <p:cNvSpPr txBox="1"/>
          <p:nvPr/>
        </p:nvSpPr>
        <p:spPr>
          <a:xfrm>
            <a:off x="9523094" y="2428875"/>
            <a:ext cx="1908811" cy="419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>
            <a:lvl1pPr algn="ctr">
              <a:defRPr b="1">
                <a:solidFill>
                  <a:srgbClr val="071B33"/>
                </a:solidFill>
                <a:latin typeface="Bitstream Charter"/>
                <a:ea typeface="Bitstream Charter"/>
                <a:cs typeface="Bitstream Charter"/>
                <a:sym typeface="Bitstream Charter"/>
              </a:defRPr>
            </a:lvl1pPr>
          </a:lstStyle>
          <a:p>
            <a:pPr/>
            <a:r>
              <a:t>Amazon S3</a:t>
            </a:r>
          </a:p>
        </p:txBody>
      </p:sp>
      <p:sp>
        <p:nvSpPr>
          <p:cNvPr id="142" name="Armazena os JSONs organizados"/>
          <p:cNvSpPr txBox="1"/>
          <p:nvPr/>
        </p:nvSpPr>
        <p:spPr>
          <a:xfrm>
            <a:off x="9570719" y="3048000"/>
            <a:ext cx="1813561" cy="647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>
            <a:lvl1pPr algn="ctr">
              <a:defRPr sz="1200">
                <a:solidFill>
                  <a:srgbClr val="5E6E7F"/>
                </a:solidFill>
                <a:latin typeface="Bitstream Charter"/>
                <a:ea typeface="Bitstream Charter"/>
                <a:cs typeface="Bitstream Charter"/>
                <a:sym typeface="Bitstream Charter"/>
              </a:defRPr>
            </a:lvl1pPr>
          </a:lstStyle>
          <a:p>
            <a:pPr/>
            <a:r>
              <a:t>Armazena os JSONs organizados</a:t>
            </a:r>
          </a:p>
        </p:txBody>
      </p:sp>
      <p:sp>
        <p:nvSpPr>
          <p:cNvPr id="143" name="Retângulo Arredondado"/>
          <p:cNvSpPr/>
          <p:nvPr/>
        </p:nvSpPr>
        <p:spPr>
          <a:xfrm>
            <a:off x="666750" y="4619625"/>
            <a:ext cx="5143500" cy="1190625"/>
          </a:xfrm>
          <a:prstGeom prst="roundRect">
            <a:avLst>
              <a:gd name="adj" fmla="val 14400"/>
            </a:avLst>
          </a:prstGeom>
          <a:solidFill>
            <a:srgbClr val="071B33"/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44" name="Estrutura no S3"/>
          <p:cNvSpPr txBox="1"/>
          <p:nvPr/>
        </p:nvSpPr>
        <p:spPr>
          <a:xfrm>
            <a:off x="998219" y="4810125"/>
            <a:ext cx="1908812" cy="2857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>
            <a:lvl1pPr>
              <a:defRPr b="1" sz="1200">
                <a:solidFill>
                  <a:srgbClr val="2AA7C9"/>
                </a:solidFill>
                <a:latin typeface="Bitstream Charter"/>
                <a:ea typeface="Bitstream Charter"/>
                <a:cs typeface="Bitstream Charter"/>
                <a:sym typeface="Bitstream Charter"/>
              </a:defRPr>
            </a:lvl1pPr>
          </a:lstStyle>
          <a:p>
            <a:pPr/>
            <a:r>
              <a:t>Estrutura no S3</a:t>
            </a:r>
          </a:p>
        </p:txBody>
      </p:sp>
      <p:sp>
        <p:nvSpPr>
          <p:cNvPr id="145" name="Separação por canal, usuário e período de processamento"/>
          <p:cNvSpPr txBox="1"/>
          <p:nvPr/>
        </p:nvSpPr>
        <p:spPr>
          <a:xfrm>
            <a:off x="998219" y="5191125"/>
            <a:ext cx="4242436" cy="4000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>
            <a:lvl1pPr>
              <a:defRPr b="1" sz="110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  <a:sym typeface="Bitstream Charter"/>
              </a:defRPr>
            </a:lvl1pPr>
          </a:lstStyle>
          <a:p>
            <a:pPr/>
            <a:r>
              <a:t>Separação por canal, usuário e período de processamento</a:t>
            </a:r>
          </a:p>
        </p:txBody>
      </p:sp>
      <p:sp>
        <p:nvSpPr>
          <p:cNvPr id="146" name="Retângulo Arredondado"/>
          <p:cNvSpPr/>
          <p:nvPr/>
        </p:nvSpPr>
        <p:spPr>
          <a:xfrm>
            <a:off x="6381750" y="4619625"/>
            <a:ext cx="5143500" cy="1190625"/>
          </a:xfrm>
          <a:prstGeom prst="roundRect">
            <a:avLst>
              <a:gd name="adj" fmla="val 14400"/>
            </a:avLst>
          </a:prstGeom>
          <a:solidFill>
            <a:srgbClr val="F6F3EE"/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47" name="Contrato dos dados"/>
          <p:cNvSpPr txBox="1"/>
          <p:nvPr/>
        </p:nvSpPr>
        <p:spPr>
          <a:xfrm>
            <a:off x="6713219" y="4810125"/>
            <a:ext cx="2099311" cy="2857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>
            <a:lvl1pPr>
              <a:defRPr b="1" sz="1200">
                <a:solidFill>
                  <a:srgbClr val="F58220"/>
                </a:solidFill>
                <a:latin typeface="Bitstream Charter"/>
                <a:ea typeface="Bitstream Charter"/>
                <a:cs typeface="Bitstream Charter"/>
                <a:sym typeface="Bitstream Charter"/>
              </a:defRPr>
            </a:lvl1pPr>
          </a:lstStyle>
          <a:p>
            <a:pPr/>
            <a:r>
              <a:t>Contrato dos dados</a:t>
            </a:r>
          </a:p>
        </p:txBody>
      </p:sp>
      <p:sp>
        <p:nvSpPr>
          <p:cNvPr id="148" name="JSONs iniciais de e-mails e transcrições preparados para consumo"/>
          <p:cNvSpPr txBox="1"/>
          <p:nvPr/>
        </p:nvSpPr>
        <p:spPr>
          <a:xfrm>
            <a:off x="6713219" y="5191125"/>
            <a:ext cx="4242436" cy="4286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>
            <a:lvl1pPr>
              <a:defRPr b="1" sz="1000">
                <a:solidFill>
                  <a:srgbClr val="071B33"/>
                </a:solidFill>
                <a:latin typeface="Bitstream Charter"/>
                <a:ea typeface="Bitstream Charter"/>
                <a:cs typeface="Bitstream Charter"/>
                <a:sym typeface="Bitstream Charter"/>
              </a:defRPr>
            </a:lvl1pPr>
          </a:lstStyle>
          <a:p>
            <a:pPr/>
            <a:r>
              <a:t>JSONs iniciais de e-mails e transcrições preparados para consumo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Da fundação à carga real"/>
          <p:cNvSpPr txBox="1"/>
          <p:nvPr/>
        </p:nvSpPr>
        <p:spPr>
          <a:xfrm>
            <a:off x="712469" y="381000"/>
            <a:ext cx="9909811" cy="6191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>
            <a:lvl1pPr>
              <a:defRPr b="1" sz="2500">
                <a:solidFill>
                  <a:srgbClr val="071B33"/>
                </a:solidFill>
                <a:latin typeface="Bitstream Charter"/>
                <a:ea typeface="Bitstream Charter"/>
                <a:cs typeface="Bitstream Charter"/>
                <a:sym typeface="Bitstream Charter"/>
              </a:defRPr>
            </a:lvl1pPr>
          </a:lstStyle>
          <a:p>
            <a:pPr/>
            <a:r>
              <a:t>Da fundação à carga real</a:t>
            </a:r>
          </a:p>
        </p:txBody>
      </p:sp>
      <p:sp>
        <p:nvSpPr>
          <p:cNvPr id="153" name="07"/>
          <p:cNvSpPr txBox="1"/>
          <p:nvPr/>
        </p:nvSpPr>
        <p:spPr>
          <a:xfrm>
            <a:off x="11094719" y="457200"/>
            <a:ext cx="384811" cy="3333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>
            <a:lvl1pPr algn="r">
              <a:defRPr b="1" sz="1100">
                <a:solidFill>
                  <a:srgbClr val="F58220"/>
                </a:solidFill>
                <a:latin typeface="Bitstream Charter"/>
                <a:ea typeface="Bitstream Charter"/>
                <a:cs typeface="Bitstream Charter"/>
                <a:sym typeface="Bitstream Charter"/>
              </a:defRPr>
            </a:lvl1pPr>
          </a:lstStyle>
          <a:p>
            <a:pPr/>
            <a:r>
              <a:t>07</a:t>
            </a:r>
          </a:p>
        </p:txBody>
      </p:sp>
      <p:sp>
        <p:nvSpPr>
          <p:cNvPr id="154" name="Retângulo"/>
          <p:cNvSpPr/>
          <p:nvPr/>
        </p:nvSpPr>
        <p:spPr>
          <a:xfrm>
            <a:off x="666750" y="1066800"/>
            <a:ext cx="10858500" cy="28575"/>
          </a:xfrm>
          <a:prstGeom prst="rect">
            <a:avLst/>
          </a:prstGeom>
          <a:solidFill>
            <a:srgbClr val="F58220"/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55" name="Retângulo Arredondado"/>
          <p:cNvSpPr/>
          <p:nvPr/>
        </p:nvSpPr>
        <p:spPr>
          <a:xfrm>
            <a:off x="666750" y="1476375"/>
            <a:ext cx="4953000" cy="4000500"/>
          </a:xfrm>
          <a:prstGeom prst="roundRect">
            <a:avLst>
              <a:gd name="adj" fmla="val 5714"/>
            </a:avLst>
          </a:prstGeom>
          <a:solidFill>
            <a:srgbClr val="F2F6F9"/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56" name="Estado atual"/>
          <p:cNvSpPr txBox="1"/>
          <p:nvPr/>
        </p:nvSpPr>
        <p:spPr>
          <a:xfrm>
            <a:off x="1045844" y="1762125"/>
            <a:ext cx="3909061" cy="4286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>
            <a:lvl1pPr>
              <a:defRPr b="1" sz="2000">
                <a:solidFill>
                  <a:srgbClr val="176B9A"/>
                </a:solidFill>
                <a:latin typeface="Bitstream Charter"/>
                <a:ea typeface="Bitstream Charter"/>
                <a:cs typeface="Bitstream Charter"/>
                <a:sym typeface="Bitstream Charter"/>
              </a:defRPr>
            </a:lvl1pPr>
          </a:lstStyle>
          <a:p>
            <a:pPr/>
            <a:r>
              <a:t>Estado atual</a:t>
            </a:r>
          </a:p>
        </p:txBody>
      </p:sp>
      <p:sp>
        <p:nvSpPr>
          <p:cNvPr id="157" name="Círculo"/>
          <p:cNvSpPr/>
          <p:nvPr/>
        </p:nvSpPr>
        <p:spPr>
          <a:xfrm>
            <a:off x="1000125" y="2552700"/>
            <a:ext cx="85725" cy="85725"/>
          </a:xfrm>
          <a:prstGeom prst="roundRect">
            <a:avLst>
              <a:gd name="adj" fmla="val 50000"/>
            </a:avLst>
          </a:prstGeom>
          <a:solidFill>
            <a:srgbClr val="176B9A"/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58" name="Fluxos técnicos implementados e integrados"/>
          <p:cNvSpPr txBox="1"/>
          <p:nvPr/>
        </p:nvSpPr>
        <p:spPr>
          <a:xfrm>
            <a:off x="1255394" y="2476500"/>
            <a:ext cx="3699511" cy="323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>
            <a:lvl1pPr>
              <a:defRPr sz="1300">
                <a:solidFill>
                  <a:srgbClr val="14273D"/>
                </a:solidFill>
                <a:latin typeface="Bitstream Charter"/>
                <a:ea typeface="Bitstream Charter"/>
                <a:cs typeface="Bitstream Charter"/>
                <a:sym typeface="Bitstream Charter"/>
              </a:defRPr>
            </a:lvl1pPr>
          </a:lstStyle>
          <a:p>
            <a:pPr/>
            <a:r>
              <a:t>Fluxos técnicos implementados e integrados</a:t>
            </a:r>
          </a:p>
        </p:txBody>
      </p:sp>
      <p:sp>
        <p:nvSpPr>
          <p:cNvPr id="159" name="Círculo"/>
          <p:cNvSpPr/>
          <p:nvPr/>
        </p:nvSpPr>
        <p:spPr>
          <a:xfrm>
            <a:off x="1000125" y="3076575"/>
            <a:ext cx="85725" cy="85725"/>
          </a:xfrm>
          <a:prstGeom prst="roundRect">
            <a:avLst>
              <a:gd name="adj" fmla="val 50000"/>
            </a:avLst>
          </a:prstGeom>
          <a:solidFill>
            <a:srgbClr val="176B9A"/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60" name="Autenticação e rotas validadas"/>
          <p:cNvSpPr txBox="1"/>
          <p:nvPr/>
        </p:nvSpPr>
        <p:spPr>
          <a:xfrm>
            <a:off x="1255394" y="3000375"/>
            <a:ext cx="3699511" cy="323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>
            <a:lvl1pPr>
              <a:defRPr sz="1300">
                <a:solidFill>
                  <a:srgbClr val="14273D"/>
                </a:solidFill>
                <a:latin typeface="Bitstream Charter"/>
                <a:ea typeface="Bitstream Charter"/>
                <a:cs typeface="Bitstream Charter"/>
                <a:sym typeface="Bitstream Charter"/>
              </a:defRPr>
            </a:lvl1pPr>
          </a:lstStyle>
          <a:p>
            <a:pPr/>
            <a:r>
              <a:t>Autenticação e rotas validadas</a:t>
            </a:r>
          </a:p>
        </p:txBody>
      </p:sp>
      <p:sp>
        <p:nvSpPr>
          <p:cNvPr id="161" name="Círculo"/>
          <p:cNvSpPr/>
          <p:nvPr/>
        </p:nvSpPr>
        <p:spPr>
          <a:xfrm>
            <a:off x="1000125" y="3600450"/>
            <a:ext cx="85725" cy="85725"/>
          </a:xfrm>
          <a:prstGeom prst="roundRect">
            <a:avLst>
              <a:gd name="adj" fmla="val 50000"/>
            </a:avLst>
          </a:prstGeom>
          <a:solidFill>
            <a:srgbClr val="176B9A"/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62" name="Processamento assíncrono estruturado"/>
          <p:cNvSpPr txBox="1"/>
          <p:nvPr/>
        </p:nvSpPr>
        <p:spPr>
          <a:xfrm>
            <a:off x="1255394" y="3524250"/>
            <a:ext cx="3699511" cy="323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>
            <a:lvl1pPr>
              <a:defRPr sz="1300">
                <a:solidFill>
                  <a:srgbClr val="14273D"/>
                </a:solidFill>
                <a:latin typeface="Bitstream Charter"/>
                <a:ea typeface="Bitstream Charter"/>
                <a:cs typeface="Bitstream Charter"/>
                <a:sym typeface="Bitstream Charter"/>
              </a:defRPr>
            </a:lvl1pPr>
          </a:lstStyle>
          <a:p>
            <a:pPr/>
            <a:r>
              <a:t>Processamento assíncrono estruturado</a:t>
            </a:r>
          </a:p>
        </p:txBody>
      </p:sp>
      <p:sp>
        <p:nvSpPr>
          <p:cNvPr id="163" name="Círculo"/>
          <p:cNvSpPr/>
          <p:nvPr/>
        </p:nvSpPr>
        <p:spPr>
          <a:xfrm>
            <a:off x="1000125" y="4124325"/>
            <a:ext cx="85725" cy="85725"/>
          </a:xfrm>
          <a:prstGeom prst="roundRect">
            <a:avLst>
              <a:gd name="adj" fmla="val 50000"/>
            </a:avLst>
          </a:prstGeom>
          <a:solidFill>
            <a:srgbClr val="176B9A"/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64" name="Contratos temporários testados com mocks"/>
          <p:cNvSpPr txBox="1"/>
          <p:nvPr/>
        </p:nvSpPr>
        <p:spPr>
          <a:xfrm>
            <a:off x="1255394" y="4048125"/>
            <a:ext cx="3699511" cy="323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>
            <a:lvl1pPr>
              <a:defRPr sz="1300">
                <a:solidFill>
                  <a:srgbClr val="14273D"/>
                </a:solidFill>
                <a:latin typeface="Bitstream Charter"/>
                <a:ea typeface="Bitstream Charter"/>
                <a:cs typeface="Bitstream Charter"/>
                <a:sym typeface="Bitstream Charter"/>
              </a:defRPr>
            </a:lvl1pPr>
          </a:lstStyle>
          <a:p>
            <a:pPr/>
            <a:r>
              <a:t>Contratos temporários testados com mocks</a:t>
            </a:r>
          </a:p>
        </p:txBody>
      </p:sp>
      <p:sp>
        <p:nvSpPr>
          <p:cNvPr id="165" name="Retângulo Arredondado"/>
          <p:cNvSpPr/>
          <p:nvPr/>
        </p:nvSpPr>
        <p:spPr>
          <a:xfrm>
            <a:off x="6191250" y="1476375"/>
            <a:ext cx="5334000" cy="4000500"/>
          </a:xfrm>
          <a:prstGeom prst="roundRect">
            <a:avLst>
              <a:gd name="adj" fmla="val 5714"/>
            </a:avLst>
          </a:prstGeom>
          <a:solidFill>
            <a:srgbClr val="F6F3EE"/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66" name="Próxima etapa"/>
          <p:cNvSpPr txBox="1"/>
          <p:nvPr/>
        </p:nvSpPr>
        <p:spPr>
          <a:xfrm>
            <a:off x="6570344" y="1762125"/>
            <a:ext cx="4194811" cy="4286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>
            <a:lvl1pPr>
              <a:defRPr b="1" sz="2000">
                <a:solidFill>
                  <a:srgbClr val="F58220"/>
                </a:solidFill>
                <a:latin typeface="Bitstream Charter"/>
                <a:ea typeface="Bitstream Charter"/>
                <a:cs typeface="Bitstream Charter"/>
                <a:sym typeface="Bitstream Charter"/>
              </a:defRPr>
            </a:lvl1pPr>
          </a:lstStyle>
          <a:p>
            <a:pPr/>
            <a:r>
              <a:t>Próxima etapa</a:t>
            </a:r>
          </a:p>
        </p:txBody>
      </p:sp>
      <p:sp>
        <p:nvSpPr>
          <p:cNvPr id="167" name="Círculo"/>
          <p:cNvSpPr/>
          <p:nvPr/>
        </p:nvSpPr>
        <p:spPr>
          <a:xfrm>
            <a:off x="6524625" y="2552700"/>
            <a:ext cx="85725" cy="85725"/>
          </a:xfrm>
          <a:prstGeom prst="roundRect">
            <a:avLst>
              <a:gd name="adj" fmla="val 50000"/>
            </a:avLst>
          </a:prstGeom>
          <a:solidFill>
            <a:srgbClr val="F58220"/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68" name="Integrar a base de dados definitiva"/>
          <p:cNvSpPr txBox="1"/>
          <p:nvPr/>
        </p:nvSpPr>
        <p:spPr>
          <a:xfrm>
            <a:off x="6779894" y="2476500"/>
            <a:ext cx="3985261" cy="323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>
            <a:lvl1pPr>
              <a:defRPr sz="1300">
                <a:solidFill>
                  <a:srgbClr val="14273D"/>
                </a:solidFill>
                <a:latin typeface="Bitstream Charter"/>
                <a:ea typeface="Bitstream Charter"/>
                <a:cs typeface="Bitstream Charter"/>
                <a:sym typeface="Bitstream Charter"/>
              </a:defRPr>
            </a:lvl1pPr>
          </a:lstStyle>
          <a:p>
            <a:pPr/>
            <a:r>
              <a:t>Integrar a base de dados definitiva</a:t>
            </a:r>
          </a:p>
        </p:txBody>
      </p:sp>
      <p:sp>
        <p:nvSpPr>
          <p:cNvPr id="169" name="Círculo"/>
          <p:cNvSpPr/>
          <p:nvPr/>
        </p:nvSpPr>
        <p:spPr>
          <a:xfrm>
            <a:off x="6524625" y="3076575"/>
            <a:ext cx="85725" cy="85725"/>
          </a:xfrm>
          <a:prstGeom prst="roundRect">
            <a:avLst>
              <a:gd name="adj" fmla="val 50000"/>
            </a:avLst>
          </a:prstGeom>
          <a:solidFill>
            <a:srgbClr val="F58220"/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70" name="Finalizar contratos e mapeamentos"/>
          <p:cNvSpPr txBox="1"/>
          <p:nvPr/>
        </p:nvSpPr>
        <p:spPr>
          <a:xfrm>
            <a:off x="6779894" y="3000375"/>
            <a:ext cx="3985261" cy="323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>
            <a:lvl1pPr>
              <a:defRPr sz="1300">
                <a:solidFill>
                  <a:srgbClr val="14273D"/>
                </a:solidFill>
                <a:latin typeface="Bitstream Charter"/>
                <a:ea typeface="Bitstream Charter"/>
                <a:cs typeface="Bitstream Charter"/>
                <a:sym typeface="Bitstream Charter"/>
              </a:defRPr>
            </a:lvl1pPr>
          </a:lstStyle>
          <a:p>
            <a:pPr/>
            <a:r>
              <a:t>Finalizar contratos e mapeamentos</a:t>
            </a:r>
          </a:p>
        </p:txBody>
      </p:sp>
      <p:sp>
        <p:nvSpPr>
          <p:cNvPr id="171" name="Círculo"/>
          <p:cNvSpPr/>
          <p:nvPr/>
        </p:nvSpPr>
        <p:spPr>
          <a:xfrm>
            <a:off x="6524625" y="3600450"/>
            <a:ext cx="85725" cy="85725"/>
          </a:xfrm>
          <a:prstGeom prst="roundRect">
            <a:avLst>
              <a:gd name="adj" fmla="val 50000"/>
            </a:avLst>
          </a:prstGeom>
          <a:solidFill>
            <a:srgbClr val="F58220"/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72" name="Substituir mocks por dados reais"/>
          <p:cNvSpPr txBox="1"/>
          <p:nvPr/>
        </p:nvSpPr>
        <p:spPr>
          <a:xfrm>
            <a:off x="6779894" y="3524250"/>
            <a:ext cx="3985261" cy="323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>
            <a:lvl1pPr>
              <a:defRPr sz="1300">
                <a:solidFill>
                  <a:srgbClr val="14273D"/>
                </a:solidFill>
                <a:latin typeface="Bitstream Charter"/>
                <a:ea typeface="Bitstream Charter"/>
                <a:cs typeface="Bitstream Charter"/>
                <a:sym typeface="Bitstream Charter"/>
              </a:defRPr>
            </a:lvl1pPr>
          </a:lstStyle>
          <a:p>
            <a:pPr/>
            <a:r>
              <a:t>Substituir mocks por dados reais</a:t>
            </a:r>
          </a:p>
        </p:txBody>
      </p:sp>
      <p:sp>
        <p:nvSpPr>
          <p:cNvPr id="173" name="Retângulo Arredondado"/>
          <p:cNvSpPr/>
          <p:nvPr/>
        </p:nvSpPr>
        <p:spPr>
          <a:xfrm>
            <a:off x="666750" y="5810250"/>
            <a:ext cx="10858500" cy="523875"/>
          </a:xfrm>
          <a:prstGeom prst="roundRect">
            <a:avLst>
              <a:gd name="adj" fmla="val 21818"/>
            </a:avLst>
          </a:prstGeom>
          <a:solidFill>
            <a:srgbClr val="071B33"/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74" name="A fundação técnica está construída e validada. A próxima fase conecta as fontes e os destinos definitivos."/>
          <p:cNvSpPr txBox="1"/>
          <p:nvPr/>
        </p:nvSpPr>
        <p:spPr>
          <a:xfrm>
            <a:off x="902969" y="5915025"/>
            <a:ext cx="10386061" cy="304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>
            <a:lvl1pPr algn="ctr">
              <a:defRPr b="1" sz="130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  <a:sym typeface="Bitstream Charter"/>
              </a:defRPr>
            </a:lvl1pPr>
          </a:lstStyle>
          <a:p>
            <a:pPr/>
            <a:r>
              <a:t>A fundação técnica está construída e validada. A próxima fase conecta as fontes e os destinos definitivos.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7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Resultado da sprint"/>
          <p:cNvSpPr txBox="1"/>
          <p:nvPr/>
        </p:nvSpPr>
        <p:spPr>
          <a:xfrm>
            <a:off x="712469" y="523875"/>
            <a:ext cx="9909811" cy="6191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>
            <a:lvl1pPr>
              <a:defRPr b="1" sz="280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  <a:sym typeface="Bitstream Charter"/>
              </a:defRPr>
            </a:lvl1pPr>
          </a:lstStyle>
          <a:p>
            <a:pPr/>
            <a:r>
              <a:t>Resultado da sprint</a:t>
            </a:r>
          </a:p>
        </p:txBody>
      </p:sp>
      <p:sp>
        <p:nvSpPr>
          <p:cNvPr id="179" name="08"/>
          <p:cNvSpPr txBox="1"/>
          <p:nvPr/>
        </p:nvSpPr>
        <p:spPr>
          <a:xfrm>
            <a:off x="11094719" y="619125"/>
            <a:ext cx="384811" cy="3333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>
            <a:lvl1pPr algn="r">
              <a:defRPr b="1" sz="1100">
                <a:solidFill>
                  <a:srgbClr val="F58220"/>
                </a:solidFill>
                <a:latin typeface="Bitstream Charter"/>
                <a:ea typeface="Bitstream Charter"/>
                <a:cs typeface="Bitstream Charter"/>
                <a:sym typeface="Bitstream Charter"/>
              </a:defRPr>
            </a:lvl1pPr>
          </a:lstStyle>
          <a:p>
            <a:pPr/>
            <a:r>
              <a:t>08</a:t>
            </a:r>
          </a:p>
        </p:txBody>
      </p:sp>
      <p:sp>
        <p:nvSpPr>
          <p:cNvPr id="180" name="Retângulo"/>
          <p:cNvSpPr/>
          <p:nvPr/>
        </p:nvSpPr>
        <p:spPr>
          <a:xfrm>
            <a:off x="666750" y="1381125"/>
            <a:ext cx="10858500" cy="28575"/>
          </a:xfrm>
          <a:prstGeom prst="rect">
            <a:avLst/>
          </a:prstGeom>
          <a:solidFill>
            <a:srgbClr val="F58220"/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81" name="Retângulo Arredondado"/>
          <p:cNvSpPr/>
          <p:nvPr/>
        </p:nvSpPr>
        <p:spPr>
          <a:xfrm>
            <a:off x="666750" y="1952625"/>
            <a:ext cx="3238500" cy="1809750"/>
          </a:xfrm>
          <a:prstGeom prst="roundRect">
            <a:avLst>
              <a:gd name="adj" fmla="val 11579"/>
            </a:avLst>
          </a:prstGeom>
          <a:solidFill>
            <a:srgbClr val="0C294A"/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82" name="Acesso"/>
          <p:cNvSpPr txBox="1"/>
          <p:nvPr/>
        </p:nvSpPr>
        <p:spPr>
          <a:xfrm>
            <a:off x="979169" y="2238375"/>
            <a:ext cx="2575562" cy="342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>
            <a:lvl1pPr>
              <a:defRPr b="1" sz="1600">
                <a:solidFill>
                  <a:srgbClr val="2AA7C9"/>
                </a:solidFill>
                <a:latin typeface="Bitstream Charter"/>
                <a:ea typeface="Bitstream Charter"/>
                <a:cs typeface="Bitstream Charter"/>
                <a:sym typeface="Bitstream Charter"/>
              </a:defRPr>
            </a:lvl1pPr>
          </a:lstStyle>
          <a:p>
            <a:pPr/>
            <a:r>
              <a:t>Acesso</a:t>
            </a:r>
          </a:p>
        </p:txBody>
      </p:sp>
      <p:sp>
        <p:nvSpPr>
          <p:cNvPr id="183" name="Fluxo autenticado do frontend ao backend"/>
          <p:cNvSpPr txBox="1"/>
          <p:nvPr/>
        </p:nvSpPr>
        <p:spPr>
          <a:xfrm>
            <a:off x="979169" y="2809875"/>
            <a:ext cx="2575562" cy="647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>
            <a:lvl1pPr>
              <a:defRPr b="1" sz="150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  <a:sym typeface="Bitstream Charter"/>
              </a:defRPr>
            </a:lvl1pPr>
          </a:lstStyle>
          <a:p>
            <a:pPr/>
            <a:r>
              <a:t>Fluxo autenticado do frontend ao backend</a:t>
            </a:r>
          </a:p>
        </p:txBody>
      </p:sp>
      <p:sp>
        <p:nvSpPr>
          <p:cNvPr id="184" name="Retângulo Arredondado"/>
          <p:cNvSpPr/>
          <p:nvPr/>
        </p:nvSpPr>
        <p:spPr>
          <a:xfrm>
            <a:off x="4286250" y="1952625"/>
            <a:ext cx="3238500" cy="1809750"/>
          </a:xfrm>
          <a:prstGeom prst="roundRect">
            <a:avLst>
              <a:gd name="adj" fmla="val 11579"/>
            </a:avLst>
          </a:prstGeom>
          <a:solidFill>
            <a:srgbClr val="0C294A"/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85" name="Consentimento"/>
          <p:cNvSpPr txBox="1"/>
          <p:nvPr/>
        </p:nvSpPr>
        <p:spPr>
          <a:xfrm>
            <a:off x="4598670" y="2238375"/>
            <a:ext cx="2575561" cy="342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>
            <a:lvl1pPr>
              <a:defRPr b="1" sz="1600">
                <a:solidFill>
                  <a:srgbClr val="2AA7C9"/>
                </a:solidFill>
                <a:latin typeface="Bitstream Charter"/>
                <a:ea typeface="Bitstream Charter"/>
                <a:cs typeface="Bitstream Charter"/>
                <a:sym typeface="Bitstream Charter"/>
              </a:defRPr>
            </a:lvl1pPr>
          </a:lstStyle>
          <a:p>
            <a:pPr/>
            <a:r>
              <a:t>Consentimento</a:t>
            </a:r>
          </a:p>
        </p:txBody>
      </p:sp>
      <p:sp>
        <p:nvSpPr>
          <p:cNvPr id="186" name="Operações GET, POST e DELETE integradas"/>
          <p:cNvSpPr txBox="1"/>
          <p:nvPr/>
        </p:nvSpPr>
        <p:spPr>
          <a:xfrm>
            <a:off x="4598670" y="2809875"/>
            <a:ext cx="2575561" cy="647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>
            <a:lvl1pPr>
              <a:defRPr b="1" sz="150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  <a:sym typeface="Bitstream Charter"/>
              </a:defRPr>
            </a:lvl1pPr>
          </a:lstStyle>
          <a:p>
            <a:pPr/>
            <a:r>
              <a:t>Operações GET, POST e DELETE integradas</a:t>
            </a:r>
          </a:p>
        </p:txBody>
      </p:sp>
      <p:sp>
        <p:nvSpPr>
          <p:cNvPr id="187" name="Retângulo Arredondado"/>
          <p:cNvSpPr/>
          <p:nvPr/>
        </p:nvSpPr>
        <p:spPr>
          <a:xfrm>
            <a:off x="7905750" y="1952625"/>
            <a:ext cx="3238500" cy="1809750"/>
          </a:xfrm>
          <a:prstGeom prst="roundRect">
            <a:avLst>
              <a:gd name="adj" fmla="val 11579"/>
            </a:avLst>
          </a:prstGeom>
          <a:solidFill>
            <a:srgbClr val="0C294A"/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88" name="Extração"/>
          <p:cNvSpPr txBox="1"/>
          <p:nvPr/>
        </p:nvSpPr>
        <p:spPr>
          <a:xfrm>
            <a:off x="8218169" y="2238375"/>
            <a:ext cx="2575561" cy="342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>
            <a:lvl1pPr>
              <a:defRPr b="1" sz="1600">
                <a:solidFill>
                  <a:srgbClr val="F58220"/>
                </a:solidFill>
                <a:latin typeface="Bitstream Charter"/>
                <a:ea typeface="Bitstream Charter"/>
                <a:cs typeface="Bitstream Charter"/>
                <a:sym typeface="Bitstream Charter"/>
              </a:defRPr>
            </a:lvl1pPr>
          </a:lstStyle>
          <a:p>
            <a:pPr/>
            <a:r>
              <a:t>Extração</a:t>
            </a:r>
          </a:p>
        </p:txBody>
      </p:sp>
      <p:sp>
        <p:nvSpPr>
          <p:cNvPr id="189" name="SQS FIFO, Lambda, Graph API e S3 conectados"/>
          <p:cNvSpPr txBox="1"/>
          <p:nvPr/>
        </p:nvSpPr>
        <p:spPr>
          <a:xfrm>
            <a:off x="8218169" y="2809875"/>
            <a:ext cx="2575561" cy="647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>
            <a:lvl1pPr>
              <a:defRPr b="1" sz="150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  <a:sym typeface="Bitstream Charter"/>
              </a:defRPr>
            </a:lvl1pPr>
          </a:lstStyle>
          <a:p>
            <a:pPr/>
            <a:r>
              <a:t>SQS FIFO, Lambda, Graph API e S3 conectados</a:t>
            </a:r>
          </a:p>
        </p:txBody>
      </p:sp>
      <p:sp>
        <p:nvSpPr>
          <p:cNvPr id="190" name="Os principais fluxos técnicos já funcionam de ponta a ponta."/>
          <p:cNvSpPr txBox="1"/>
          <p:nvPr/>
        </p:nvSpPr>
        <p:spPr>
          <a:xfrm>
            <a:off x="712469" y="4429125"/>
            <a:ext cx="10386061" cy="5238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>
            <a:lvl1pPr algn="ctr">
              <a:defRPr b="1" sz="240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  <a:sym typeface="Bitstream Charter"/>
              </a:defRPr>
            </a:lvl1pPr>
          </a:lstStyle>
          <a:p>
            <a:pPr/>
            <a:r>
              <a:t>Os principais fluxos técnicos já funcionam de ponta a ponta.</a:t>
            </a:r>
          </a:p>
        </p:txBody>
      </p:sp>
      <p:sp>
        <p:nvSpPr>
          <p:cNvPr id="191" name="Agora conectamos os dados reais sobre uma estrutura que já foi construída e testada."/>
          <p:cNvSpPr txBox="1"/>
          <p:nvPr/>
        </p:nvSpPr>
        <p:spPr>
          <a:xfrm>
            <a:off x="1522094" y="5143500"/>
            <a:ext cx="9147811" cy="552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>
            <a:lvl1pPr algn="ctr">
              <a:defRPr sz="1600">
                <a:solidFill>
                  <a:srgbClr val="C9D8E6"/>
                </a:solidFill>
                <a:latin typeface="Bitstream Charter"/>
                <a:ea typeface="Bitstream Charter"/>
                <a:cs typeface="Bitstream Charter"/>
                <a:sym typeface="Bitstream Charter"/>
              </a:defRPr>
            </a:lvl1pPr>
          </a:lstStyle>
          <a:p>
            <a:pPr/>
            <a:r>
              <a:t>Agora conectamos os dados reais sobre uma estrutura que já foi construída e testada.</a:t>
            </a:r>
          </a:p>
        </p:txBody>
      </p:sp>
      <p:sp>
        <p:nvSpPr>
          <p:cNvPr id="192" name="Retângulo"/>
          <p:cNvSpPr/>
          <p:nvPr/>
        </p:nvSpPr>
        <p:spPr>
          <a:xfrm>
            <a:off x="4762500" y="6048375"/>
            <a:ext cx="2667000" cy="47625"/>
          </a:xfrm>
          <a:prstGeom prst="rect">
            <a:avLst/>
          </a:prstGeom>
          <a:solidFill>
            <a:srgbClr val="F58220"/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000FF"/>
      </a:hlink>
      <a:folHlink>
        <a:srgbClr val="FF00FF"/>
      </a:folHlink>
    </a:clrScheme>
    <a:fontScheme name="ChatGPT">
      <a:majorFont>
        <a:latin typeface="Helvetica Neue"/>
        <a:ea typeface="Helvetica Neue"/>
        <a:cs typeface="Helvetica Neue"/>
      </a:majorFont>
      <a:minorFont>
        <a:latin typeface="Helvetica"/>
        <a:ea typeface="Helvetica"/>
        <a:cs typeface="Helvetica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905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Aptos"/>
            <a:ea typeface="Aptos"/>
            <a:cs typeface="Aptos"/>
            <a:sym typeface="Apto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905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Aptos"/>
            <a:ea typeface="Aptos"/>
            <a:cs typeface="Aptos"/>
            <a:sym typeface="Apto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000FF"/>
      </a:hlink>
      <a:folHlink>
        <a:srgbClr val="FF00FF"/>
      </a:folHlink>
    </a:clrScheme>
    <a:fontScheme name="ChatGPT">
      <a:majorFont>
        <a:latin typeface="Helvetica Neue"/>
        <a:ea typeface="Helvetica Neue"/>
        <a:cs typeface="Helvetica Neue"/>
      </a:majorFont>
      <a:minorFont>
        <a:latin typeface="Helvetica"/>
        <a:ea typeface="Helvetica"/>
        <a:cs typeface="Helvetica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905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Aptos"/>
            <a:ea typeface="Aptos"/>
            <a:cs typeface="Aptos"/>
            <a:sym typeface="Apto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905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Aptos"/>
            <a:ea typeface="Aptos"/>
            <a:cs typeface="Aptos"/>
            <a:sym typeface="Apto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
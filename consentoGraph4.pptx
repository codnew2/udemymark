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" name="Shape 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Nesta sprint, minha atuação ficou concentrada em duas frentes: a construção do fluxo inicial de acesso e consentimento e a estruturação do processamento assíncrono para extração de e-mails e transcrições pelo Microsoft Graph. Vou mostrar o que foi desenvolvido, como os componentes se conectam e quais resultados já conseguimos validar.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" name="Shape 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Minha atuação foi dividida nessas duas frentes. Na primeira, trabalhei para viabilizar o acesso autenticado e o gerenciamento do consentimento. Na segunda, estruturei o fluxo assíncrono responsável por extrair, organizar e armazenar os dados do Microsoft Graph.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2" name="Shape 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Esta é a visão geral da arquitetura. Os componentes destacados em laranja representam o escopo em que atuamos nesta sprint. Na frente de consentimento, trabalhamos no caminho entre o frontend, o Gateway, o BFF e o serviço de autorização e consentimento. Na frente de extração, atuamos no fluxo formado pela fila SQS, pelas Lambdas de processamento, pela integração com o Microsoft Graph e pelo armazenamento no S3. Não vou detalhar toda a arquitetura, apenas os pontos ligados às entregas demonstradas hoje.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4" name="Shape 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Para que o fluxo funcionasse, não bastava implementar as rotas. Primeiro foi necessário viabilizar a aplicação no processo corporativo, configurar a autenticação no Azure AD e associar os escopos necessários ao Client ID do Chassi. A partir disso, validamos a propagação do token desde o frontend até o backend, permitindo que as rotas de consentimento fossem chamadas dentro de um contexto autenticado. Ao mostrar os prints, destaque a autorização, a configuração e o resultado de cada etapa.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 a jornada de autenticação estabelecida, implementamos no BFF a integração das três operações necessárias para o gerenciamento do consentimento. O GET consulta o estado atual, o POST recebe os dados pelo body e registra o consentimento, e o DELETE utiliza o identificador para realizar a remoção. Nos testes pelo Insomnia, mostre a entrada pelo Gateway, a passagem pelo BFF e a resposta obtida. Evite gastar tempo lendo todo o JSON e todos os headers.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Na segunda frente, estruturamos o processamento assíncrono das extrações. A fila recebe a solicitação e desacopla o pedido do processamento. A Lambda consome a mensagem, realiza as consultas ao Microsoft Graph e armazena os resultados no S3. Também estruturamos a separação das pastas e os formatos iniciais dos JSONs de e-mails e transcrições. Na demo, mostre uma execução concreta: mensagem na fila, Lambda processando, chamada ao Graph e arquivo criado no S3.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5" name="Shape 1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Durante parte do desenvolvimento, a base de dados e a definição final dos campos do contrato ainda não estavam disponíveis. Para não bloquear a evolução, utilizamos mocks para construir e validar a integração entre frontend, Gateway e BFF. Agora que a base e os campos estão sendo disponibilizados, a próxima etapa concentra-se na substituição dos mocks, no mapeamento definitivo e na validação com carga real.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Shape 1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Nesta sprint, avançamos em duas frentes complementares. Na primeira, estruturamos a jornada de autenticação e consentimento, desde as configurações corporativas até a integração do frontend com o Gateway, o BFF e o serviço de consentimento. Na segunda, estruturamos o processamento assíncrono para extração de e-mails e transcrições, utilizando SQS FIFO, Lambda, Microsoft Graph e S3. Mesmo com a base definitiva e os contratos ainda em definição, utilizamos mocks para validar as integrações sem bloquear o projeto. Como resultado, os principais fluxos técnicos estão integrados e funcionando. O próximo passo é substituir os dados simulados pelos dados reais sobre essa fundação já construída.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Texto do Título</a:t>
            </a:r>
          </a:p>
        </p:txBody>
      </p:sp>
      <p:sp>
        <p:nvSpPr>
          <p:cNvPr id="3" name="Nível de Corpo Um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/>
          <p:nvPr>
            <p:ph type="sldNum" sz="quarter" idx="2"/>
          </p:nvPr>
        </p:nvSpPr>
        <p:spPr>
          <a:xfrm>
            <a:off x="8463946" y="6221731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"/>
          <p:cNvSpPr/>
          <p:nvPr/>
        </p:nvSpPr>
        <p:spPr>
          <a:xfrm>
            <a:off x="685800" y="628650"/>
            <a:ext cx="819150" cy="6667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21" name="DEMO DA SPRINT"/>
          <p:cNvSpPr txBox="1"/>
          <p:nvPr/>
        </p:nvSpPr>
        <p:spPr>
          <a:xfrm>
            <a:off x="731519" y="952500"/>
            <a:ext cx="4671062" cy="361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300">
                <a:solidFill>
                  <a:srgbClr val="2AA7C9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DEMO DA SPRINT</a:t>
            </a:r>
          </a:p>
        </p:txBody>
      </p:sp>
      <p:sp>
        <p:nvSpPr>
          <p:cNvPr id="22" name="Consentimento e extração…"/>
          <p:cNvSpPr txBox="1"/>
          <p:nvPr/>
        </p:nvSpPr>
        <p:spPr>
          <a:xfrm>
            <a:off x="731519" y="1524000"/>
            <a:ext cx="7719060" cy="1809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>
              <a:defRPr b="1" sz="36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pPr>
            <a:r>
              <a:t>Consentimento e extração</a:t>
            </a:r>
          </a:p>
          <a:p>
            <a:pPr>
              <a:defRPr b="1" sz="36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pPr>
            <a:r>
              <a:t>de e-mails e transcrições</a:t>
            </a:r>
          </a:p>
        </p:txBody>
      </p:sp>
      <p:sp>
        <p:nvSpPr>
          <p:cNvPr id="23" name="Duas frentes integradas: acesso seguro e processamento assíncrono via Microsoft Graph"/>
          <p:cNvSpPr txBox="1"/>
          <p:nvPr/>
        </p:nvSpPr>
        <p:spPr>
          <a:xfrm>
            <a:off x="731519" y="3714751"/>
            <a:ext cx="7147560" cy="704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700">
                <a:solidFill>
                  <a:srgbClr val="C9D8E6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Duas frentes integradas: acesso seguro e processamento assíncrono via Microsoft Graph</a:t>
            </a:r>
          </a:p>
        </p:txBody>
      </p:sp>
      <p:sp>
        <p:nvSpPr>
          <p:cNvPr id="24" name="Retângulo Arredondado"/>
          <p:cNvSpPr/>
          <p:nvPr/>
        </p:nvSpPr>
        <p:spPr>
          <a:xfrm>
            <a:off x="9239250" y="1095375"/>
            <a:ext cx="2000250" cy="4000500"/>
          </a:xfrm>
          <a:prstGeom prst="roundRect">
            <a:avLst>
              <a:gd name="adj" fmla="val 13333"/>
            </a:avLst>
          </a:prstGeom>
          <a:solidFill>
            <a:srgbClr val="0C294A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25" name="01"/>
          <p:cNvSpPr txBox="1"/>
          <p:nvPr/>
        </p:nvSpPr>
        <p:spPr>
          <a:xfrm>
            <a:off x="9665968" y="1476375"/>
            <a:ext cx="1146812" cy="809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40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6" name="ACESSO E…"/>
          <p:cNvSpPr txBox="1"/>
          <p:nvPr/>
        </p:nvSpPr>
        <p:spPr>
          <a:xfrm>
            <a:off x="9523093" y="2524125"/>
            <a:ext cx="1432562" cy="714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 algn="ctr">
              <a:defRPr b="1" sz="13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pPr>
            <a:r>
              <a:t>ACESSO E</a:t>
            </a:r>
          </a:p>
          <a:p>
            <a:pPr algn="ctr">
              <a:defRPr b="1" sz="13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pPr>
            <a:r>
              <a:t>CONSENTIMENTO</a:t>
            </a:r>
          </a:p>
        </p:txBody>
      </p:sp>
      <p:sp>
        <p:nvSpPr>
          <p:cNvPr id="27" name="Retângulo"/>
          <p:cNvSpPr/>
          <p:nvPr/>
        </p:nvSpPr>
        <p:spPr>
          <a:xfrm>
            <a:off x="9620250" y="3476625"/>
            <a:ext cx="1238250" cy="19050"/>
          </a:xfrm>
          <a:prstGeom prst="rect">
            <a:avLst/>
          </a:prstGeom>
          <a:solidFill>
            <a:srgbClr val="46637C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28" name="02"/>
          <p:cNvSpPr txBox="1"/>
          <p:nvPr/>
        </p:nvSpPr>
        <p:spPr>
          <a:xfrm>
            <a:off x="9665968" y="3762376"/>
            <a:ext cx="1146812" cy="590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3100">
                <a:solidFill>
                  <a:srgbClr val="2AA7C9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9" name="EXTRAÇÃO…"/>
          <p:cNvSpPr txBox="1"/>
          <p:nvPr/>
        </p:nvSpPr>
        <p:spPr>
          <a:xfrm>
            <a:off x="9523093" y="4619626"/>
            <a:ext cx="1432562" cy="666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 algn="ctr">
              <a:defRPr b="1" sz="13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pPr>
            <a:r>
              <a:t>EXTRAÇÃO</a:t>
            </a:r>
          </a:p>
          <a:p>
            <a:pPr algn="ctr">
              <a:defRPr b="1" sz="13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pPr>
            <a:r>
              <a:t>GRAPH API</a:t>
            </a:r>
          </a:p>
        </p:txBody>
      </p:sp>
      <p:sp>
        <p:nvSpPr>
          <p:cNvPr id="30" name="Sprint Review"/>
          <p:cNvSpPr txBox="1"/>
          <p:nvPr/>
        </p:nvSpPr>
        <p:spPr>
          <a:xfrm>
            <a:off x="731519" y="6191251"/>
            <a:ext cx="2194562" cy="247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000">
                <a:solidFill>
                  <a:srgbClr val="88A0B7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Sprint Review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ntes em que atuei"/>
          <p:cNvSpPr txBox="1"/>
          <p:nvPr/>
        </p:nvSpPr>
        <p:spPr>
          <a:xfrm>
            <a:off x="712469" y="381000"/>
            <a:ext cx="9909811" cy="619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5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Frentes em que atuei</a:t>
            </a:r>
          </a:p>
        </p:txBody>
      </p:sp>
      <p:sp>
        <p:nvSpPr>
          <p:cNvPr id="35" name="02"/>
          <p:cNvSpPr txBox="1"/>
          <p:nvPr/>
        </p:nvSpPr>
        <p:spPr>
          <a:xfrm>
            <a:off x="11094718" y="457201"/>
            <a:ext cx="384812" cy="333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r">
              <a:defRPr b="1" sz="11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6" name="Retângulo"/>
          <p:cNvSpPr/>
          <p:nvPr/>
        </p:nvSpPr>
        <p:spPr>
          <a:xfrm>
            <a:off x="666750" y="1066800"/>
            <a:ext cx="10858500" cy="2857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37" name="Retângulo Arredondado"/>
          <p:cNvSpPr/>
          <p:nvPr/>
        </p:nvSpPr>
        <p:spPr>
          <a:xfrm>
            <a:off x="666750" y="1476375"/>
            <a:ext cx="5095875" cy="4286250"/>
          </a:xfrm>
          <a:prstGeom prst="roundRect">
            <a:avLst>
              <a:gd name="adj" fmla="val 5333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38" name="Retângulo Arredondado"/>
          <p:cNvSpPr/>
          <p:nvPr/>
        </p:nvSpPr>
        <p:spPr>
          <a:xfrm>
            <a:off x="6429375" y="1476375"/>
            <a:ext cx="5095875" cy="4286250"/>
          </a:xfrm>
          <a:prstGeom prst="roundRect">
            <a:avLst>
              <a:gd name="adj" fmla="val 5333"/>
            </a:avLst>
          </a:prstGeom>
          <a:solidFill>
            <a:srgbClr val="F6F3E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39" name="01"/>
          <p:cNvSpPr txBox="1"/>
          <p:nvPr/>
        </p:nvSpPr>
        <p:spPr>
          <a:xfrm>
            <a:off x="1045844" y="1809750"/>
            <a:ext cx="575312" cy="571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800">
                <a:solidFill>
                  <a:srgbClr val="176B9A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0" name="Acesso e consentimento"/>
          <p:cNvSpPr txBox="1"/>
          <p:nvPr/>
        </p:nvSpPr>
        <p:spPr>
          <a:xfrm>
            <a:off x="1045844" y="2476500"/>
            <a:ext cx="3909062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1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Acesso e consentimento</a:t>
            </a:r>
          </a:p>
        </p:txBody>
      </p:sp>
      <p:sp>
        <p:nvSpPr>
          <p:cNvPr id="41" name="Construção do fluxo autenticado entre frontend, Gateway, BFF e serviço de consentimento."/>
          <p:cNvSpPr txBox="1"/>
          <p:nvPr/>
        </p:nvSpPr>
        <p:spPr>
          <a:xfrm>
            <a:off x="1045844" y="3095625"/>
            <a:ext cx="3956687" cy="857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5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Construção do fluxo autenticado entre frontend, Gateway, BFF e serviço de consentimento.</a:t>
            </a:r>
          </a:p>
        </p:txBody>
      </p:sp>
      <p:sp>
        <p:nvSpPr>
          <p:cNvPr id="42" name="Círculo"/>
          <p:cNvSpPr/>
          <p:nvPr/>
        </p:nvSpPr>
        <p:spPr>
          <a:xfrm>
            <a:off x="1000125" y="43148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43" name="Configuração de autenticação e escopos"/>
          <p:cNvSpPr txBox="1"/>
          <p:nvPr/>
        </p:nvSpPr>
        <p:spPr>
          <a:xfrm>
            <a:off x="1255394" y="4238626"/>
            <a:ext cx="3699512" cy="32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Configuração de autenticação e escopos</a:t>
            </a:r>
          </a:p>
        </p:txBody>
      </p:sp>
      <p:sp>
        <p:nvSpPr>
          <p:cNvPr id="44" name="Círculo"/>
          <p:cNvSpPr/>
          <p:nvPr/>
        </p:nvSpPr>
        <p:spPr>
          <a:xfrm>
            <a:off x="1000125" y="47910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45" name="Integração das rotas de consentimento"/>
          <p:cNvSpPr txBox="1"/>
          <p:nvPr/>
        </p:nvSpPr>
        <p:spPr>
          <a:xfrm>
            <a:off x="1255394" y="4714876"/>
            <a:ext cx="3699512" cy="32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Integração das rotas de consentimento</a:t>
            </a:r>
          </a:p>
        </p:txBody>
      </p:sp>
      <p:sp>
        <p:nvSpPr>
          <p:cNvPr id="46" name="02"/>
          <p:cNvSpPr txBox="1"/>
          <p:nvPr/>
        </p:nvSpPr>
        <p:spPr>
          <a:xfrm>
            <a:off x="6808468" y="1809750"/>
            <a:ext cx="575312" cy="571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8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7" name="Extração via Microsoft Graph"/>
          <p:cNvSpPr txBox="1"/>
          <p:nvPr/>
        </p:nvSpPr>
        <p:spPr>
          <a:xfrm>
            <a:off x="6808468" y="2476500"/>
            <a:ext cx="4004312" cy="457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1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Extração via Microsoft Graph</a:t>
            </a:r>
          </a:p>
        </p:txBody>
      </p:sp>
      <p:sp>
        <p:nvSpPr>
          <p:cNvPr id="48" name="Estruturação do processamento assíncrono para consultar, organizar e armazenar e-mails e transcrições."/>
          <p:cNvSpPr txBox="1"/>
          <p:nvPr/>
        </p:nvSpPr>
        <p:spPr>
          <a:xfrm>
            <a:off x="6808468" y="3095625"/>
            <a:ext cx="3956687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5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Estruturação do processamento assíncrono para consultar, organizar e armazenar e-mails e transcrições.</a:t>
            </a:r>
          </a:p>
        </p:txBody>
      </p:sp>
      <p:sp>
        <p:nvSpPr>
          <p:cNvPr id="49" name="Círculo"/>
          <p:cNvSpPr/>
          <p:nvPr/>
        </p:nvSpPr>
        <p:spPr>
          <a:xfrm>
            <a:off x="6762750" y="43148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50" name="Mensageria e processamento por Lambda"/>
          <p:cNvSpPr txBox="1"/>
          <p:nvPr/>
        </p:nvSpPr>
        <p:spPr>
          <a:xfrm>
            <a:off x="7018018" y="4238626"/>
            <a:ext cx="3794762" cy="32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Mensageria e processamento por Lambda</a:t>
            </a:r>
          </a:p>
        </p:txBody>
      </p:sp>
      <p:sp>
        <p:nvSpPr>
          <p:cNvPr id="51" name="Círculo"/>
          <p:cNvSpPr/>
          <p:nvPr/>
        </p:nvSpPr>
        <p:spPr>
          <a:xfrm>
            <a:off x="6762750" y="47910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52" name="Organização dos arquivos no S3"/>
          <p:cNvSpPr txBox="1"/>
          <p:nvPr/>
        </p:nvSpPr>
        <p:spPr>
          <a:xfrm>
            <a:off x="7018018" y="4714876"/>
            <a:ext cx="3794762" cy="32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Organização dos arquivos no S3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Visão da arquitetura e escopo da atuação"/>
          <p:cNvSpPr txBox="1"/>
          <p:nvPr/>
        </p:nvSpPr>
        <p:spPr>
          <a:xfrm>
            <a:off x="712469" y="381000"/>
            <a:ext cx="9909811" cy="619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5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Visão da arquitetura e escopo da atuação</a:t>
            </a:r>
          </a:p>
        </p:txBody>
      </p:sp>
      <p:sp>
        <p:nvSpPr>
          <p:cNvPr id="57" name="03"/>
          <p:cNvSpPr txBox="1"/>
          <p:nvPr/>
        </p:nvSpPr>
        <p:spPr>
          <a:xfrm>
            <a:off x="11094718" y="457201"/>
            <a:ext cx="384812" cy="333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r">
              <a:defRPr b="1" sz="11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8" name="Retângulo"/>
          <p:cNvSpPr/>
          <p:nvPr/>
        </p:nvSpPr>
        <p:spPr>
          <a:xfrm>
            <a:off x="666750" y="1066800"/>
            <a:ext cx="10858500" cy="2857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59" name="Retângulo Arredondado"/>
          <p:cNvSpPr/>
          <p:nvPr/>
        </p:nvSpPr>
        <p:spPr>
          <a:xfrm>
            <a:off x="8439150" y="5962650"/>
            <a:ext cx="3143250" cy="428625"/>
          </a:xfrm>
          <a:prstGeom prst="roundRect">
            <a:avLst>
              <a:gd name="adj" fmla="val 22222"/>
            </a:avLst>
          </a:prstGeom>
          <a:solidFill>
            <a:srgbClr val="071B33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60" name="Laranja: componentes desta sprint"/>
          <p:cNvSpPr txBox="1"/>
          <p:nvPr/>
        </p:nvSpPr>
        <p:spPr>
          <a:xfrm>
            <a:off x="8665843" y="6019801"/>
            <a:ext cx="2670812" cy="285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11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Laranja: componentes desta sprint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Jornada de acesso e consentimento"/>
          <p:cNvSpPr txBox="1"/>
          <p:nvPr/>
        </p:nvSpPr>
        <p:spPr>
          <a:xfrm>
            <a:off x="712469" y="381000"/>
            <a:ext cx="9909811" cy="619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5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Jornada de acesso e consentimento</a:t>
            </a:r>
          </a:p>
        </p:txBody>
      </p:sp>
      <p:sp>
        <p:nvSpPr>
          <p:cNvPr id="65" name="04"/>
          <p:cNvSpPr txBox="1"/>
          <p:nvPr/>
        </p:nvSpPr>
        <p:spPr>
          <a:xfrm>
            <a:off x="11094718" y="457201"/>
            <a:ext cx="384812" cy="333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r">
              <a:defRPr b="1" sz="11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6" name="Retângulo"/>
          <p:cNvSpPr/>
          <p:nvPr/>
        </p:nvSpPr>
        <p:spPr>
          <a:xfrm>
            <a:off x="666750" y="1066800"/>
            <a:ext cx="10858500" cy="2857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67" name="Retângulo Arredondado"/>
          <p:cNvSpPr/>
          <p:nvPr/>
        </p:nvSpPr>
        <p:spPr>
          <a:xfrm>
            <a:off x="666750" y="1666875"/>
            <a:ext cx="2333625" cy="2857500"/>
          </a:xfrm>
          <a:prstGeom prst="roundRect">
            <a:avLst>
              <a:gd name="adj" fmla="val 8980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68" name="Círculo"/>
          <p:cNvSpPr/>
          <p:nvPr/>
        </p:nvSpPr>
        <p:spPr>
          <a:xfrm>
            <a:off x="904875" y="19240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69" name="1"/>
          <p:cNvSpPr txBox="1"/>
          <p:nvPr/>
        </p:nvSpPr>
        <p:spPr>
          <a:xfrm>
            <a:off x="950594" y="1952625"/>
            <a:ext cx="384812" cy="400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17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0" name="Aplicação no PO"/>
          <p:cNvSpPr txBox="1"/>
          <p:nvPr/>
        </p:nvSpPr>
        <p:spPr>
          <a:xfrm>
            <a:off x="950594" y="2619375"/>
            <a:ext cx="1765937" cy="552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4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Aplicação no PO</a:t>
            </a:r>
          </a:p>
        </p:txBody>
      </p:sp>
      <p:sp>
        <p:nvSpPr>
          <p:cNvPr id="71" name="Autorização para criação da aplicação"/>
          <p:cNvSpPr txBox="1"/>
          <p:nvPr/>
        </p:nvSpPr>
        <p:spPr>
          <a:xfrm>
            <a:off x="950594" y="3333751"/>
            <a:ext cx="1765937" cy="80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Autorização para criação da aplicação</a:t>
            </a:r>
          </a:p>
        </p:txBody>
      </p:sp>
      <p:sp>
        <p:nvSpPr>
          <p:cNvPr id="72" name="›"/>
          <p:cNvSpPr txBox="1"/>
          <p:nvPr/>
        </p:nvSpPr>
        <p:spPr>
          <a:xfrm>
            <a:off x="3093720" y="2619375"/>
            <a:ext cx="241937" cy="52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28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73" name="Retângulo Arredondado"/>
          <p:cNvSpPr/>
          <p:nvPr/>
        </p:nvSpPr>
        <p:spPr>
          <a:xfrm>
            <a:off x="3429000" y="1666875"/>
            <a:ext cx="2333625" cy="2857500"/>
          </a:xfrm>
          <a:prstGeom prst="roundRect">
            <a:avLst>
              <a:gd name="adj" fmla="val 8980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74" name="Círculo"/>
          <p:cNvSpPr/>
          <p:nvPr/>
        </p:nvSpPr>
        <p:spPr>
          <a:xfrm>
            <a:off x="3667125" y="19240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75" name="2"/>
          <p:cNvSpPr txBox="1"/>
          <p:nvPr/>
        </p:nvSpPr>
        <p:spPr>
          <a:xfrm>
            <a:off x="3712845" y="1952625"/>
            <a:ext cx="384812" cy="400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17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6" name="Azure AD"/>
          <p:cNvSpPr txBox="1"/>
          <p:nvPr/>
        </p:nvSpPr>
        <p:spPr>
          <a:xfrm>
            <a:off x="3712845" y="2619375"/>
            <a:ext cx="1765937" cy="552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6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Azure AD</a:t>
            </a:r>
          </a:p>
        </p:txBody>
      </p:sp>
      <p:sp>
        <p:nvSpPr>
          <p:cNvPr id="77" name="Configuração do fluxo de autenticação"/>
          <p:cNvSpPr txBox="1"/>
          <p:nvPr/>
        </p:nvSpPr>
        <p:spPr>
          <a:xfrm>
            <a:off x="3712845" y="3333751"/>
            <a:ext cx="1765937" cy="80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Configuração do fluxo de autenticação</a:t>
            </a:r>
          </a:p>
        </p:txBody>
      </p:sp>
      <p:sp>
        <p:nvSpPr>
          <p:cNvPr id="78" name="›"/>
          <p:cNvSpPr txBox="1"/>
          <p:nvPr/>
        </p:nvSpPr>
        <p:spPr>
          <a:xfrm>
            <a:off x="5855970" y="2619375"/>
            <a:ext cx="241937" cy="52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28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79" name="Retângulo Arredondado"/>
          <p:cNvSpPr/>
          <p:nvPr/>
        </p:nvSpPr>
        <p:spPr>
          <a:xfrm>
            <a:off x="6191250" y="1666875"/>
            <a:ext cx="2333625" cy="2857500"/>
          </a:xfrm>
          <a:prstGeom prst="roundRect">
            <a:avLst>
              <a:gd name="adj" fmla="val 8980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80" name="Círculo"/>
          <p:cNvSpPr/>
          <p:nvPr/>
        </p:nvSpPr>
        <p:spPr>
          <a:xfrm>
            <a:off x="6429375" y="19240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81" name="3"/>
          <p:cNvSpPr txBox="1"/>
          <p:nvPr/>
        </p:nvSpPr>
        <p:spPr>
          <a:xfrm>
            <a:off x="6475095" y="1952625"/>
            <a:ext cx="384812" cy="400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17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2" name="Client ID do CH"/>
          <p:cNvSpPr txBox="1"/>
          <p:nvPr/>
        </p:nvSpPr>
        <p:spPr>
          <a:xfrm>
            <a:off x="6475095" y="2619375"/>
            <a:ext cx="1765937" cy="552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4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Client ID do CH</a:t>
            </a:r>
          </a:p>
        </p:txBody>
      </p:sp>
      <p:sp>
        <p:nvSpPr>
          <p:cNvPr id="83" name="Associação dos escopos necessários"/>
          <p:cNvSpPr txBox="1"/>
          <p:nvPr/>
        </p:nvSpPr>
        <p:spPr>
          <a:xfrm>
            <a:off x="6475095" y="3333751"/>
            <a:ext cx="1765937" cy="80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Associação dos escopos necessários</a:t>
            </a:r>
          </a:p>
        </p:txBody>
      </p:sp>
      <p:sp>
        <p:nvSpPr>
          <p:cNvPr id="84" name="›"/>
          <p:cNvSpPr txBox="1"/>
          <p:nvPr/>
        </p:nvSpPr>
        <p:spPr>
          <a:xfrm>
            <a:off x="8618218" y="2619375"/>
            <a:ext cx="241937" cy="52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28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85" name="Retângulo Arredondado"/>
          <p:cNvSpPr/>
          <p:nvPr/>
        </p:nvSpPr>
        <p:spPr>
          <a:xfrm>
            <a:off x="8953500" y="1666875"/>
            <a:ext cx="2333625" cy="2857500"/>
          </a:xfrm>
          <a:prstGeom prst="roundRect">
            <a:avLst>
              <a:gd name="adj" fmla="val 8980"/>
            </a:avLst>
          </a:prstGeom>
          <a:solidFill>
            <a:srgbClr val="EDF8F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86" name="Círculo"/>
          <p:cNvSpPr/>
          <p:nvPr/>
        </p:nvSpPr>
        <p:spPr>
          <a:xfrm>
            <a:off x="9191625" y="19240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218A6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87" name="4"/>
          <p:cNvSpPr txBox="1"/>
          <p:nvPr/>
        </p:nvSpPr>
        <p:spPr>
          <a:xfrm>
            <a:off x="9237343" y="1952625"/>
            <a:ext cx="384812" cy="400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17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8" name="Fluxo autenticado"/>
          <p:cNvSpPr txBox="1"/>
          <p:nvPr/>
        </p:nvSpPr>
        <p:spPr>
          <a:xfrm>
            <a:off x="9237343" y="2619375"/>
            <a:ext cx="1765937" cy="552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Fluxo autenticado</a:t>
            </a:r>
          </a:p>
        </p:txBody>
      </p:sp>
      <p:sp>
        <p:nvSpPr>
          <p:cNvPr id="89" name="Token propagado até o backend"/>
          <p:cNvSpPr txBox="1"/>
          <p:nvPr/>
        </p:nvSpPr>
        <p:spPr>
          <a:xfrm>
            <a:off x="9237343" y="3333751"/>
            <a:ext cx="1765937" cy="800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Token propagado até o backend</a:t>
            </a:r>
          </a:p>
        </p:txBody>
      </p:sp>
      <p:sp>
        <p:nvSpPr>
          <p:cNvPr id="90" name="Retângulo Arredondado"/>
          <p:cNvSpPr/>
          <p:nvPr/>
        </p:nvSpPr>
        <p:spPr>
          <a:xfrm>
            <a:off x="666750" y="4953000"/>
            <a:ext cx="10858500" cy="952500"/>
          </a:xfrm>
          <a:prstGeom prst="roundRect">
            <a:avLst>
              <a:gd name="adj" fmla="val 18000"/>
            </a:avLst>
          </a:prstGeom>
          <a:solidFill>
            <a:srgbClr val="071B33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91" name="Resultado validado"/>
          <p:cNvSpPr txBox="1"/>
          <p:nvPr/>
        </p:nvSpPr>
        <p:spPr>
          <a:xfrm>
            <a:off x="998219" y="5143501"/>
            <a:ext cx="2099312" cy="26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100">
                <a:solidFill>
                  <a:srgbClr val="2AA7C9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Resultado validado</a:t>
            </a:r>
          </a:p>
        </p:txBody>
      </p:sp>
      <p:sp>
        <p:nvSpPr>
          <p:cNvPr id="92" name="O usuário acessa o frontend autenticado e a identidade chega às rotas do backend com os escopos necessários."/>
          <p:cNvSpPr txBox="1"/>
          <p:nvPr/>
        </p:nvSpPr>
        <p:spPr>
          <a:xfrm>
            <a:off x="3188970" y="5105401"/>
            <a:ext cx="7814310" cy="47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2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O usuário acessa o frontend autenticado e a identidade chega às rotas do backend com os escopos necessários.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otas de consentimento"/>
          <p:cNvSpPr txBox="1"/>
          <p:nvPr/>
        </p:nvSpPr>
        <p:spPr>
          <a:xfrm>
            <a:off x="712469" y="381000"/>
            <a:ext cx="9909811" cy="619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5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Rotas de consentimento</a:t>
            </a:r>
          </a:p>
        </p:txBody>
      </p:sp>
      <p:sp>
        <p:nvSpPr>
          <p:cNvPr id="97" name="05"/>
          <p:cNvSpPr txBox="1"/>
          <p:nvPr/>
        </p:nvSpPr>
        <p:spPr>
          <a:xfrm>
            <a:off x="11094718" y="457201"/>
            <a:ext cx="384812" cy="333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r">
              <a:defRPr b="1" sz="11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98" name="Retângulo"/>
          <p:cNvSpPr/>
          <p:nvPr/>
        </p:nvSpPr>
        <p:spPr>
          <a:xfrm>
            <a:off x="666750" y="1066800"/>
            <a:ext cx="10858500" cy="2857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99" name="Retângulo Arredondado"/>
          <p:cNvSpPr/>
          <p:nvPr/>
        </p:nvSpPr>
        <p:spPr>
          <a:xfrm>
            <a:off x="666750" y="1524000"/>
            <a:ext cx="10858500" cy="1066800"/>
          </a:xfrm>
          <a:prstGeom prst="roundRect">
            <a:avLst>
              <a:gd name="adj" fmla="val 16071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00" name="Retângulo Arredondado"/>
          <p:cNvSpPr/>
          <p:nvPr/>
        </p:nvSpPr>
        <p:spPr>
          <a:xfrm>
            <a:off x="904875" y="1781175"/>
            <a:ext cx="1143000" cy="552450"/>
          </a:xfrm>
          <a:prstGeom prst="roundRect">
            <a:avLst>
              <a:gd name="adj" fmla="val 24138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01" name="GET"/>
          <p:cNvSpPr txBox="1"/>
          <p:nvPr/>
        </p:nvSpPr>
        <p:spPr>
          <a:xfrm>
            <a:off x="950594" y="1838325"/>
            <a:ext cx="1051562" cy="400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16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102" name="/consentos"/>
          <p:cNvSpPr txBox="1"/>
          <p:nvPr/>
        </p:nvSpPr>
        <p:spPr>
          <a:xfrm>
            <a:off x="2426970" y="1695450"/>
            <a:ext cx="3956685" cy="400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7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/consentos</a:t>
            </a:r>
          </a:p>
        </p:txBody>
      </p:sp>
      <p:sp>
        <p:nvSpPr>
          <p:cNvPr id="103" name="Consulta o estado atual do consentos"/>
          <p:cNvSpPr txBox="1"/>
          <p:nvPr/>
        </p:nvSpPr>
        <p:spPr>
          <a:xfrm>
            <a:off x="2426969" y="2095500"/>
            <a:ext cx="6195062" cy="32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Consulta o estado atual do consentos</a:t>
            </a:r>
          </a:p>
        </p:txBody>
      </p:sp>
      <p:sp>
        <p:nvSpPr>
          <p:cNvPr id="104" name="Gateway  ›  BFF  ›  Serviço de consentimento"/>
          <p:cNvSpPr txBox="1"/>
          <p:nvPr/>
        </p:nvSpPr>
        <p:spPr>
          <a:xfrm>
            <a:off x="7903843" y="1857375"/>
            <a:ext cx="3147062" cy="428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11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Gateway  ›  BFF  ›  Serviço de consentimento</a:t>
            </a:r>
          </a:p>
        </p:txBody>
      </p:sp>
      <p:sp>
        <p:nvSpPr>
          <p:cNvPr id="105" name="Retângulo Arredondado"/>
          <p:cNvSpPr/>
          <p:nvPr/>
        </p:nvSpPr>
        <p:spPr>
          <a:xfrm>
            <a:off x="666750" y="2905125"/>
            <a:ext cx="10858500" cy="1066800"/>
          </a:xfrm>
          <a:prstGeom prst="roundRect">
            <a:avLst>
              <a:gd name="adj" fmla="val 16071"/>
            </a:avLst>
          </a:prstGeom>
          <a:solidFill>
            <a:srgbClr val="EDF8F5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06" name="Retângulo Arredondado"/>
          <p:cNvSpPr/>
          <p:nvPr/>
        </p:nvSpPr>
        <p:spPr>
          <a:xfrm>
            <a:off x="904875" y="3162300"/>
            <a:ext cx="1143000" cy="552450"/>
          </a:xfrm>
          <a:prstGeom prst="roundRect">
            <a:avLst>
              <a:gd name="adj" fmla="val 24138"/>
            </a:avLst>
          </a:prstGeom>
          <a:solidFill>
            <a:srgbClr val="218A6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07" name="POST"/>
          <p:cNvSpPr txBox="1"/>
          <p:nvPr/>
        </p:nvSpPr>
        <p:spPr>
          <a:xfrm>
            <a:off x="950594" y="3219450"/>
            <a:ext cx="1051562" cy="400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16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POST</a:t>
            </a:r>
          </a:p>
        </p:txBody>
      </p:sp>
      <p:sp>
        <p:nvSpPr>
          <p:cNvPr id="108" name="/consentos"/>
          <p:cNvSpPr txBox="1"/>
          <p:nvPr/>
        </p:nvSpPr>
        <p:spPr>
          <a:xfrm>
            <a:off x="2426970" y="3076575"/>
            <a:ext cx="3956685" cy="400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7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/consentos</a:t>
            </a:r>
          </a:p>
        </p:txBody>
      </p:sp>
      <p:sp>
        <p:nvSpPr>
          <p:cNvPr id="109" name="Recebe o JSON e registra o consentos"/>
          <p:cNvSpPr txBox="1"/>
          <p:nvPr/>
        </p:nvSpPr>
        <p:spPr>
          <a:xfrm>
            <a:off x="2426969" y="3476626"/>
            <a:ext cx="6195062" cy="32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Recebe o JSON e registra o consentos</a:t>
            </a:r>
          </a:p>
        </p:txBody>
      </p:sp>
      <p:sp>
        <p:nvSpPr>
          <p:cNvPr id="110" name="Gateway  ›  BFF  ›  Serviço de consentimento"/>
          <p:cNvSpPr txBox="1"/>
          <p:nvPr/>
        </p:nvSpPr>
        <p:spPr>
          <a:xfrm>
            <a:off x="7903843" y="3238500"/>
            <a:ext cx="3147062" cy="428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11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Gateway  ›  BFF  ›  Serviço de consentimento</a:t>
            </a:r>
          </a:p>
        </p:txBody>
      </p:sp>
      <p:sp>
        <p:nvSpPr>
          <p:cNvPr id="111" name="Retângulo Arredondado"/>
          <p:cNvSpPr/>
          <p:nvPr/>
        </p:nvSpPr>
        <p:spPr>
          <a:xfrm>
            <a:off x="666750" y="4286250"/>
            <a:ext cx="10858500" cy="1066800"/>
          </a:xfrm>
          <a:prstGeom prst="roundRect">
            <a:avLst>
              <a:gd name="adj" fmla="val 16071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12" name="Retângulo Arredondado"/>
          <p:cNvSpPr/>
          <p:nvPr/>
        </p:nvSpPr>
        <p:spPr>
          <a:xfrm>
            <a:off x="904875" y="4543425"/>
            <a:ext cx="1143000" cy="552450"/>
          </a:xfrm>
          <a:prstGeom prst="roundRect">
            <a:avLst>
              <a:gd name="adj" fmla="val 24138"/>
            </a:avLst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13" name="DELETE"/>
          <p:cNvSpPr txBox="1"/>
          <p:nvPr/>
        </p:nvSpPr>
        <p:spPr>
          <a:xfrm>
            <a:off x="950594" y="4600576"/>
            <a:ext cx="1051562" cy="400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16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DELETE</a:t>
            </a:r>
          </a:p>
        </p:txBody>
      </p:sp>
      <p:sp>
        <p:nvSpPr>
          <p:cNvPr id="114" name="/consentos/{id}"/>
          <p:cNvSpPr txBox="1"/>
          <p:nvPr/>
        </p:nvSpPr>
        <p:spPr>
          <a:xfrm>
            <a:off x="2426970" y="4457701"/>
            <a:ext cx="3956685" cy="400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7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/consentos/{id}</a:t>
            </a:r>
          </a:p>
        </p:txBody>
      </p:sp>
      <p:sp>
        <p:nvSpPr>
          <p:cNvPr id="115" name="Remove ou revoga o consentos"/>
          <p:cNvSpPr txBox="1"/>
          <p:nvPr/>
        </p:nvSpPr>
        <p:spPr>
          <a:xfrm>
            <a:off x="2426969" y="4857751"/>
            <a:ext cx="6195062" cy="32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Remove ou revoga o consentos</a:t>
            </a:r>
          </a:p>
        </p:txBody>
      </p:sp>
      <p:sp>
        <p:nvSpPr>
          <p:cNvPr id="116" name="Gateway  ›  BFF  ›  Serviço de consentimento"/>
          <p:cNvSpPr txBox="1"/>
          <p:nvPr/>
        </p:nvSpPr>
        <p:spPr>
          <a:xfrm>
            <a:off x="7903843" y="4619626"/>
            <a:ext cx="3147062" cy="428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11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Gateway  ›  BFF  ›  Serviço de consentimento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Extração assíncrona via Microsoft Graph"/>
          <p:cNvSpPr txBox="1"/>
          <p:nvPr/>
        </p:nvSpPr>
        <p:spPr>
          <a:xfrm>
            <a:off x="712469" y="381000"/>
            <a:ext cx="9909811" cy="619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5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Extração assíncrona via Microsoft Graph</a:t>
            </a:r>
          </a:p>
        </p:txBody>
      </p:sp>
      <p:sp>
        <p:nvSpPr>
          <p:cNvPr id="121" name="06"/>
          <p:cNvSpPr txBox="1"/>
          <p:nvPr/>
        </p:nvSpPr>
        <p:spPr>
          <a:xfrm>
            <a:off x="11094718" y="457201"/>
            <a:ext cx="384812" cy="333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r">
              <a:defRPr b="1" sz="11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22" name="Retângulo"/>
          <p:cNvSpPr/>
          <p:nvPr/>
        </p:nvSpPr>
        <p:spPr>
          <a:xfrm>
            <a:off x="666750" y="1066800"/>
            <a:ext cx="10858500" cy="2857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23" name="Retângulo Arredondado"/>
          <p:cNvSpPr/>
          <p:nvPr/>
        </p:nvSpPr>
        <p:spPr>
          <a:xfrm>
            <a:off x="523875" y="1619250"/>
            <a:ext cx="2476500" cy="2428875"/>
          </a:xfrm>
          <a:prstGeom prst="roundRect">
            <a:avLst>
              <a:gd name="adj" fmla="val 8627"/>
            </a:avLst>
          </a:prstGeom>
          <a:solidFill>
            <a:srgbClr val="FFF4E8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24" name="1"/>
          <p:cNvSpPr txBox="1"/>
          <p:nvPr/>
        </p:nvSpPr>
        <p:spPr>
          <a:xfrm>
            <a:off x="807719" y="1857375"/>
            <a:ext cx="327662" cy="419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20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5" name="SQS FIFO"/>
          <p:cNvSpPr txBox="1"/>
          <p:nvPr/>
        </p:nvSpPr>
        <p:spPr>
          <a:xfrm>
            <a:off x="807719" y="2428875"/>
            <a:ext cx="1908812" cy="419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SQS FIFO</a:t>
            </a:r>
          </a:p>
        </p:txBody>
      </p:sp>
      <p:sp>
        <p:nvSpPr>
          <p:cNvPr id="126" name="Recebe e ordena as solicitações"/>
          <p:cNvSpPr txBox="1"/>
          <p:nvPr/>
        </p:nvSpPr>
        <p:spPr>
          <a:xfrm>
            <a:off x="855344" y="3048000"/>
            <a:ext cx="1813562" cy="647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sz="12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Recebe e ordena as solicitações</a:t>
            </a:r>
          </a:p>
        </p:txBody>
      </p:sp>
      <p:sp>
        <p:nvSpPr>
          <p:cNvPr id="127" name="›"/>
          <p:cNvSpPr txBox="1"/>
          <p:nvPr/>
        </p:nvSpPr>
        <p:spPr>
          <a:xfrm>
            <a:off x="3093720" y="2505075"/>
            <a:ext cx="241937" cy="46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24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28" name="Retângulo Arredondado"/>
          <p:cNvSpPr/>
          <p:nvPr/>
        </p:nvSpPr>
        <p:spPr>
          <a:xfrm>
            <a:off x="3429000" y="1619250"/>
            <a:ext cx="2476500" cy="2428875"/>
          </a:xfrm>
          <a:prstGeom prst="roundRect">
            <a:avLst>
              <a:gd name="adj" fmla="val 8627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29" name="2"/>
          <p:cNvSpPr txBox="1"/>
          <p:nvPr/>
        </p:nvSpPr>
        <p:spPr>
          <a:xfrm>
            <a:off x="3712845" y="1857375"/>
            <a:ext cx="327662" cy="419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2000">
                <a:solidFill>
                  <a:srgbClr val="176B9A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0" name="Lambda"/>
          <p:cNvSpPr txBox="1"/>
          <p:nvPr/>
        </p:nvSpPr>
        <p:spPr>
          <a:xfrm>
            <a:off x="3712845" y="2428875"/>
            <a:ext cx="1908812" cy="419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Lambda</a:t>
            </a:r>
          </a:p>
        </p:txBody>
      </p:sp>
      <p:sp>
        <p:nvSpPr>
          <p:cNvPr id="131" name="Consome a mensagem e executa a extração"/>
          <p:cNvSpPr txBox="1"/>
          <p:nvPr/>
        </p:nvSpPr>
        <p:spPr>
          <a:xfrm>
            <a:off x="3760470" y="3048000"/>
            <a:ext cx="1813562" cy="647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sz="12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Consome a mensagem e executa a extração</a:t>
            </a:r>
          </a:p>
        </p:txBody>
      </p:sp>
      <p:sp>
        <p:nvSpPr>
          <p:cNvPr id="132" name="›"/>
          <p:cNvSpPr txBox="1"/>
          <p:nvPr/>
        </p:nvSpPr>
        <p:spPr>
          <a:xfrm>
            <a:off x="5998845" y="2505075"/>
            <a:ext cx="241937" cy="46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24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33" name="Retângulo Arredondado"/>
          <p:cNvSpPr/>
          <p:nvPr/>
        </p:nvSpPr>
        <p:spPr>
          <a:xfrm>
            <a:off x="6334125" y="1619250"/>
            <a:ext cx="2476500" cy="2428875"/>
          </a:xfrm>
          <a:prstGeom prst="roundRect">
            <a:avLst>
              <a:gd name="adj" fmla="val 8627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34" name="3"/>
          <p:cNvSpPr txBox="1"/>
          <p:nvPr/>
        </p:nvSpPr>
        <p:spPr>
          <a:xfrm>
            <a:off x="6617968" y="1857375"/>
            <a:ext cx="327662" cy="419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2000">
                <a:solidFill>
                  <a:srgbClr val="176B9A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35" name="Microsoft Graph"/>
          <p:cNvSpPr txBox="1"/>
          <p:nvPr/>
        </p:nvSpPr>
        <p:spPr>
          <a:xfrm>
            <a:off x="6617968" y="2428875"/>
            <a:ext cx="1908812" cy="419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Microsoft Graph</a:t>
            </a:r>
          </a:p>
        </p:txBody>
      </p:sp>
      <p:sp>
        <p:nvSpPr>
          <p:cNvPr id="136" name="Consulta e-mails e transcrições"/>
          <p:cNvSpPr txBox="1"/>
          <p:nvPr/>
        </p:nvSpPr>
        <p:spPr>
          <a:xfrm>
            <a:off x="6665593" y="3048000"/>
            <a:ext cx="1813562" cy="647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sz="12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Consulta e-mails e transcrições</a:t>
            </a:r>
          </a:p>
        </p:txBody>
      </p:sp>
      <p:sp>
        <p:nvSpPr>
          <p:cNvPr id="137" name="›"/>
          <p:cNvSpPr txBox="1"/>
          <p:nvPr/>
        </p:nvSpPr>
        <p:spPr>
          <a:xfrm>
            <a:off x="8903968" y="2505075"/>
            <a:ext cx="241937" cy="462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24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138" name="Retângulo Arredondado"/>
          <p:cNvSpPr/>
          <p:nvPr/>
        </p:nvSpPr>
        <p:spPr>
          <a:xfrm>
            <a:off x="9239250" y="1619250"/>
            <a:ext cx="2476500" cy="2428875"/>
          </a:xfrm>
          <a:prstGeom prst="roundRect">
            <a:avLst>
              <a:gd name="adj" fmla="val 8627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39" name="4"/>
          <p:cNvSpPr txBox="1"/>
          <p:nvPr/>
        </p:nvSpPr>
        <p:spPr>
          <a:xfrm>
            <a:off x="9523093" y="1857375"/>
            <a:ext cx="327662" cy="419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2000">
                <a:solidFill>
                  <a:srgbClr val="176B9A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40" name="Amazon S3"/>
          <p:cNvSpPr txBox="1"/>
          <p:nvPr/>
        </p:nvSpPr>
        <p:spPr>
          <a:xfrm>
            <a:off x="9523093" y="2428875"/>
            <a:ext cx="1908812" cy="419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Amazon S3</a:t>
            </a:r>
          </a:p>
        </p:txBody>
      </p:sp>
      <p:sp>
        <p:nvSpPr>
          <p:cNvPr id="141" name="Armazena os JSONs organizados"/>
          <p:cNvSpPr txBox="1"/>
          <p:nvPr/>
        </p:nvSpPr>
        <p:spPr>
          <a:xfrm>
            <a:off x="9570718" y="3048000"/>
            <a:ext cx="1813562" cy="647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sz="1200">
                <a:solidFill>
                  <a:srgbClr val="5E6E7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Armazena os JSONs organizados</a:t>
            </a:r>
          </a:p>
        </p:txBody>
      </p:sp>
      <p:sp>
        <p:nvSpPr>
          <p:cNvPr id="142" name="Retângulo Arredondado"/>
          <p:cNvSpPr/>
          <p:nvPr/>
        </p:nvSpPr>
        <p:spPr>
          <a:xfrm>
            <a:off x="666750" y="4619625"/>
            <a:ext cx="5143500" cy="1190625"/>
          </a:xfrm>
          <a:prstGeom prst="roundRect">
            <a:avLst>
              <a:gd name="adj" fmla="val 14400"/>
            </a:avLst>
          </a:prstGeom>
          <a:solidFill>
            <a:srgbClr val="071B33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43" name="Estrutura no S3"/>
          <p:cNvSpPr txBox="1"/>
          <p:nvPr/>
        </p:nvSpPr>
        <p:spPr>
          <a:xfrm>
            <a:off x="998219" y="4810126"/>
            <a:ext cx="1908812" cy="285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200">
                <a:solidFill>
                  <a:srgbClr val="2AA7C9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Estrutura no S3</a:t>
            </a:r>
          </a:p>
        </p:txBody>
      </p:sp>
      <p:sp>
        <p:nvSpPr>
          <p:cNvPr id="144" name="Separação por canal, usuário e período de processamento"/>
          <p:cNvSpPr txBox="1"/>
          <p:nvPr/>
        </p:nvSpPr>
        <p:spPr>
          <a:xfrm>
            <a:off x="998219" y="5191126"/>
            <a:ext cx="4242437" cy="400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1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Separação por canal, usuário e período de processamento</a:t>
            </a:r>
          </a:p>
        </p:txBody>
      </p:sp>
      <p:sp>
        <p:nvSpPr>
          <p:cNvPr id="145" name="Retângulo Arredondado"/>
          <p:cNvSpPr/>
          <p:nvPr/>
        </p:nvSpPr>
        <p:spPr>
          <a:xfrm>
            <a:off x="6381750" y="4619625"/>
            <a:ext cx="5143500" cy="1190625"/>
          </a:xfrm>
          <a:prstGeom prst="roundRect">
            <a:avLst>
              <a:gd name="adj" fmla="val 14400"/>
            </a:avLst>
          </a:prstGeom>
          <a:solidFill>
            <a:srgbClr val="F6F3E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46" name="Contrato dos dados"/>
          <p:cNvSpPr txBox="1"/>
          <p:nvPr/>
        </p:nvSpPr>
        <p:spPr>
          <a:xfrm>
            <a:off x="6713218" y="4810126"/>
            <a:ext cx="2099312" cy="285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2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Contrato dos dados</a:t>
            </a:r>
          </a:p>
        </p:txBody>
      </p:sp>
      <p:sp>
        <p:nvSpPr>
          <p:cNvPr id="147" name="JSONs iniciais de e-mails e transcrições preparados para consumo"/>
          <p:cNvSpPr txBox="1"/>
          <p:nvPr/>
        </p:nvSpPr>
        <p:spPr>
          <a:xfrm>
            <a:off x="6713218" y="5191126"/>
            <a:ext cx="4242437" cy="428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0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JSONs iniciais de e-mails e transcrições preparados para consumo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Da fundação à carga real"/>
          <p:cNvSpPr txBox="1"/>
          <p:nvPr/>
        </p:nvSpPr>
        <p:spPr>
          <a:xfrm>
            <a:off x="712469" y="381000"/>
            <a:ext cx="9909811" cy="619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500">
                <a:solidFill>
                  <a:srgbClr val="071B33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Da fundação à carga real</a:t>
            </a:r>
          </a:p>
        </p:txBody>
      </p:sp>
      <p:sp>
        <p:nvSpPr>
          <p:cNvPr id="152" name="07"/>
          <p:cNvSpPr txBox="1"/>
          <p:nvPr/>
        </p:nvSpPr>
        <p:spPr>
          <a:xfrm>
            <a:off x="11094718" y="457201"/>
            <a:ext cx="384812" cy="333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r">
              <a:defRPr b="1" sz="11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53" name="Retângulo"/>
          <p:cNvSpPr/>
          <p:nvPr/>
        </p:nvSpPr>
        <p:spPr>
          <a:xfrm>
            <a:off x="666750" y="1066800"/>
            <a:ext cx="10858500" cy="2857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54" name="Retângulo Arredondado"/>
          <p:cNvSpPr/>
          <p:nvPr/>
        </p:nvSpPr>
        <p:spPr>
          <a:xfrm>
            <a:off x="666750" y="1476375"/>
            <a:ext cx="4953000" cy="4000500"/>
          </a:xfrm>
          <a:prstGeom prst="roundRect">
            <a:avLst>
              <a:gd name="adj" fmla="val 5714"/>
            </a:avLst>
          </a:prstGeom>
          <a:solidFill>
            <a:srgbClr val="F2F6F9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55" name="Estado atual"/>
          <p:cNvSpPr txBox="1"/>
          <p:nvPr/>
        </p:nvSpPr>
        <p:spPr>
          <a:xfrm>
            <a:off x="1045844" y="1762125"/>
            <a:ext cx="3909062" cy="428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000">
                <a:solidFill>
                  <a:srgbClr val="176B9A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Estado atual</a:t>
            </a:r>
          </a:p>
        </p:txBody>
      </p:sp>
      <p:sp>
        <p:nvSpPr>
          <p:cNvPr id="156" name="Círculo"/>
          <p:cNvSpPr/>
          <p:nvPr/>
        </p:nvSpPr>
        <p:spPr>
          <a:xfrm>
            <a:off x="1000125" y="25527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57" name="Fluxos técnicos implementados e integrados"/>
          <p:cNvSpPr txBox="1"/>
          <p:nvPr/>
        </p:nvSpPr>
        <p:spPr>
          <a:xfrm>
            <a:off x="1255394" y="2476500"/>
            <a:ext cx="3699512" cy="32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Fluxos técnicos implementados e integrados</a:t>
            </a:r>
          </a:p>
        </p:txBody>
      </p:sp>
      <p:sp>
        <p:nvSpPr>
          <p:cNvPr id="158" name="Círculo"/>
          <p:cNvSpPr/>
          <p:nvPr/>
        </p:nvSpPr>
        <p:spPr>
          <a:xfrm>
            <a:off x="1000125" y="30765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59" name="Autenticação e rotas validadas"/>
          <p:cNvSpPr txBox="1"/>
          <p:nvPr/>
        </p:nvSpPr>
        <p:spPr>
          <a:xfrm>
            <a:off x="1255394" y="3000375"/>
            <a:ext cx="3699512" cy="32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Autenticação e rotas validadas</a:t>
            </a:r>
          </a:p>
        </p:txBody>
      </p:sp>
      <p:sp>
        <p:nvSpPr>
          <p:cNvPr id="160" name="Círculo"/>
          <p:cNvSpPr/>
          <p:nvPr/>
        </p:nvSpPr>
        <p:spPr>
          <a:xfrm>
            <a:off x="1000125" y="36004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61" name="Processamento assíncrono estruturado"/>
          <p:cNvSpPr txBox="1"/>
          <p:nvPr/>
        </p:nvSpPr>
        <p:spPr>
          <a:xfrm>
            <a:off x="1255394" y="3524251"/>
            <a:ext cx="3699512" cy="32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Processamento assíncrono estruturado</a:t>
            </a:r>
          </a:p>
        </p:txBody>
      </p:sp>
      <p:sp>
        <p:nvSpPr>
          <p:cNvPr id="162" name="Círculo"/>
          <p:cNvSpPr/>
          <p:nvPr/>
        </p:nvSpPr>
        <p:spPr>
          <a:xfrm>
            <a:off x="1000125" y="4124325"/>
            <a:ext cx="85725" cy="85725"/>
          </a:xfrm>
          <a:prstGeom prst="roundRect">
            <a:avLst>
              <a:gd name="adj" fmla="val 50000"/>
            </a:avLst>
          </a:prstGeom>
          <a:solidFill>
            <a:srgbClr val="176B9A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63" name="Contratos temporários testados com mocks"/>
          <p:cNvSpPr txBox="1"/>
          <p:nvPr/>
        </p:nvSpPr>
        <p:spPr>
          <a:xfrm>
            <a:off x="1255394" y="4048126"/>
            <a:ext cx="3699512" cy="32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Contratos temporários testados com mocks</a:t>
            </a:r>
          </a:p>
        </p:txBody>
      </p:sp>
      <p:sp>
        <p:nvSpPr>
          <p:cNvPr id="164" name="Retângulo Arredondado"/>
          <p:cNvSpPr/>
          <p:nvPr/>
        </p:nvSpPr>
        <p:spPr>
          <a:xfrm>
            <a:off x="6191250" y="1476375"/>
            <a:ext cx="5334000" cy="4000500"/>
          </a:xfrm>
          <a:prstGeom prst="roundRect">
            <a:avLst>
              <a:gd name="adj" fmla="val 5714"/>
            </a:avLst>
          </a:prstGeom>
          <a:solidFill>
            <a:srgbClr val="F6F3EE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65" name="Próxima etapa"/>
          <p:cNvSpPr txBox="1"/>
          <p:nvPr/>
        </p:nvSpPr>
        <p:spPr>
          <a:xfrm>
            <a:off x="6570343" y="1762125"/>
            <a:ext cx="4194812" cy="428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0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Próxima etapa</a:t>
            </a:r>
          </a:p>
        </p:txBody>
      </p:sp>
      <p:sp>
        <p:nvSpPr>
          <p:cNvPr id="166" name="Círculo"/>
          <p:cNvSpPr/>
          <p:nvPr/>
        </p:nvSpPr>
        <p:spPr>
          <a:xfrm>
            <a:off x="6524625" y="25527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67" name="Integrar a base de dados definitiva"/>
          <p:cNvSpPr txBox="1"/>
          <p:nvPr/>
        </p:nvSpPr>
        <p:spPr>
          <a:xfrm>
            <a:off x="6779893" y="2476500"/>
            <a:ext cx="3985262" cy="32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Integrar a base de dados definitiva</a:t>
            </a:r>
          </a:p>
        </p:txBody>
      </p:sp>
      <p:sp>
        <p:nvSpPr>
          <p:cNvPr id="168" name="Círculo"/>
          <p:cNvSpPr/>
          <p:nvPr/>
        </p:nvSpPr>
        <p:spPr>
          <a:xfrm>
            <a:off x="6524625" y="3076575"/>
            <a:ext cx="85725" cy="85725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69" name="Finalizar contratos e mapeamentos"/>
          <p:cNvSpPr txBox="1"/>
          <p:nvPr/>
        </p:nvSpPr>
        <p:spPr>
          <a:xfrm>
            <a:off x="6779893" y="3000375"/>
            <a:ext cx="3985262" cy="32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Finalizar contratos e mapeamentos</a:t>
            </a:r>
          </a:p>
        </p:txBody>
      </p:sp>
      <p:sp>
        <p:nvSpPr>
          <p:cNvPr id="170" name="Círculo"/>
          <p:cNvSpPr/>
          <p:nvPr/>
        </p:nvSpPr>
        <p:spPr>
          <a:xfrm>
            <a:off x="6524625" y="36004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71" name="Substituir mocks por dados reais"/>
          <p:cNvSpPr txBox="1"/>
          <p:nvPr/>
        </p:nvSpPr>
        <p:spPr>
          <a:xfrm>
            <a:off x="6779893" y="3524251"/>
            <a:ext cx="3985262" cy="323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sz="1300">
                <a:solidFill>
                  <a:srgbClr val="14273D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Substituir mocks por dados reais</a:t>
            </a:r>
          </a:p>
        </p:txBody>
      </p:sp>
      <p:sp>
        <p:nvSpPr>
          <p:cNvPr id="172" name="Retângulo Arredondado"/>
          <p:cNvSpPr/>
          <p:nvPr/>
        </p:nvSpPr>
        <p:spPr>
          <a:xfrm>
            <a:off x="666750" y="5810250"/>
            <a:ext cx="10858500" cy="523875"/>
          </a:xfrm>
          <a:prstGeom prst="roundRect">
            <a:avLst>
              <a:gd name="adj" fmla="val 21818"/>
            </a:avLst>
          </a:prstGeom>
          <a:solidFill>
            <a:srgbClr val="071B33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73" name="A fundação técnica está construída e validada. A próxima fase conecta as fontes e os destinos definitivos."/>
          <p:cNvSpPr txBox="1"/>
          <p:nvPr/>
        </p:nvSpPr>
        <p:spPr>
          <a:xfrm>
            <a:off x="902969" y="5915026"/>
            <a:ext cx="10386061" cy="304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13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 fundação técnica está construída e validada. A próxima fase conecta as fontes e os destinos definitivos.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sultado da sprint"/>
          <p:cNvSpPr txBox="1"/>
          <p:nvPr/>
        </p:nvSpPr>
        <p:spPr>
          <a:xfrm>
            <a:off x="712469" y="523876"/>
            <a:ext cx="9909811" cy="6191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28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Resultado da sprint</a:t>
            </a:r>
          </a:p>
        </p:txBody>
      </p:sp>
      <p:sp>
        <p:nvSpPr>
          <p:cNvPr id="178" name="08"/>
          <p:cNvSpPr txBox="1"/>
          <p:nvPr/>
        </p:nvSpPr>
        <p:spPr>
          <a:xfrm>
            <a:off x="11094718" y="619126"/>
            <a:ext cx="384812" cy="333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r">
              <a:defRPr b="1" sz="11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79" name="Retângulo"/>
          <p:cNvSpPr/>
          <p:nvPr/>
        </p:nvSpPr>
        <p:spPr>
          <a:xfrm>
            <a:off x="666750" y="1381125"/>
            <a:ext cx="10858500" cy="2857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80" name="Retângulo Arredondado"/>
          <p:cNvSpPr/>
          <p:nvPr/>
        </p:nvSpPr>
        <p:spPr>
          <a:xfrm>
            <a:off x="666750" y="1952625"/>
            <a:ext cx="3238500" cy="1809750"/>
          </a:xfrm>
          <a:prstGeom prst="roundRect">
            <a:avLst>
              <a:gd name="adj" fmla="val 11579"/>
            </a:avLst>
          </a:prstGeom>
          <a:solidFill>
            <a:srgbClr val="0C294A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81" name="Acesso"/>
          <p:cNvSpPr txBox="1"/>
          <p:nvPr/>
        </p:nvSpPr>
        <p:spPr>
          <a:xfrm>
            <a:off x="979169" y="2238375"/>
            <a:ext cx="2575562" cy="342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600">
                <a:solidFill>
                  <a:srgbClr val="2AA7C9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Acesso</a:t>
            </a:r>
          </a:p>
        </p:txBody>
      </p:sp>
      <p:sp>
        <p:nvSpPr>
          <p:cNvPr id="182" name="Fluxo autenticado do frontend ao backend"/>
          <p:cNvSpPr txBox="1"/>
          <p:nvPr/>
        </p:nvSpPr>
        <p:spPr>
          <a:xfrm>
            <a:off x="979169" y="2809875"/>
            <a:ext cx="2575562" cy="647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Fluxo autenticado do frontend ao backend</a:t>
            </a:r>
          </a:p>
        </p:txBody>
      </p:sp>
      <p:sp>
        <p:nvSpPr>
          <p:cNvPr id="183" name="Retângulo Arredondado"/>
          <p:cNvSpPr/>
          <p:nvPr/>
        </p:nvSpPr>
        <p:spPr>
          <a:xfrm>
            <a:off x="4286250" y="1952625"/>
            <a:ext cx="3238500" cy="1809750"/>
          </a:xfrm>
          <a:prstGeom prst="roundRect">
            <a:avLst>
              <a:gd name="adj" fmla="val 11579"/>
            </a:avLst>
          </a:prstGeom>
          <a:solidFill>
            <a:srgbClr val="0C294A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84" name="Consentimento"/>
          <p:cNvSpPr txBox="1"/>
          <p:nvPr/>
        </p:nvSpPr>
        <p:spPr>
          <a:xfrm>
            <a:off x="4598670" y="2238375"/>
            <a:ext cx="2575562" cy="342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600">
                <a:solidFill>
                  <a:srgbClr val="2AA7C9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Consentimento</a:t>
            </a:r>
          </a:p>
        </p:txBody>
      </p:sp>
      <p:sp>
        <p:nvSpPr>
          <p:cNvPr id="185" name="Operações GET, POST e DELETE integradas"/>
          <p:cNvSpPr txBox="1"/>
          <p:nvPr/>
        </p:nvSpPr>
        <p:spPr>
          <a:xfrm>
            <a:off x="4598670" y="2809875"/>
            <a:ext cx="2575562" cy="647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Operações GET, POST e DELETE integradas</a:t>
            </a:r>
          </a:p>
        </p:txBody>
      </p:sp>
      <p:sp>
        <p:nvSpPr>
          <p:cNvPr id="186" name="Retângulo Arredondado"/>
          <p:cNvSpPr/>
          <p:nvPr/>
        </p:nvSpPr>
        <p:spPr>
          <a:xfrm>
            <a:off x="7905750" y="1952625"/>
            <a:ext cx="3238500" cy="1809750"/>
          </a:xfrm>
          <a:prstGeom prst="roundRect">
            <a:avLst>
              <a:gd name="adj" fmla="val 11579"/>
            </a:avLst>
          </a:prstGeom>
          <a:solidFill>
            <a:srgbClr val="0C294A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187" name="Extração"/>
          <p:cNvSpPr txBox="1"/>
          <p:nvPr/>
        </p:nvSpPr>
        <p:spPr>
          <a:xfrm>
            <a:off x="8218168" y="2238375"/>
            <a:ext cx="2575562" cy="342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600">
                <a:solidFill>
                  <a:srgbClr val="F58220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Extração</a:t>
            </a:r>
          </a:p>
        </p:txBody>
      </p:sp>
      <p:sp>
        <p:nvSpPr>
          <p:cNvPr id="188" name="SQS FIFO, Lambda, Graph API e S3 conectados"/>
          <p:cNvSpPr txBox="1"/>
          <p:nvPr/>
        </p:nvSpPr>
        <p:spPr>
          <a:xfrm>
            <a:off x="8218168" y="2809875"/>
            <a:ext cx="2575562" cy="647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>
              <a:defRPr b="1" sz="15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SQS FIFO, Lambda, Graph API e S3 conectados</a:t>
            </a:r>
          </a:p>
        </p:txBody>
      </p:sp>
      <p:sp>
        <p:nvSpPr>
          <p:cNvPr id="189" name="Os principais fluxos técnicos já funcionam de ponta a ponta."/>
          <p:cNvSpPr txBox="1"/>
          <p:nvPr/>
        </p:nvSpPr>
        <p:spPr>
          <a:xfrm>
            <a:off x="712469" y="4429126"/>
            <a:ext cx="10386061" cy="52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b="1" sz="240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Os principais fluxos técnicos já funcionam de ponta a ponta.</a:t>
            </a:r>
          </a:p>
        </p:txBody>
      </p:sp>
      <p:sp>
        <p:nvSpPr>
          <p:cNvPr id="190" name="Agora conectamos os dados reais sobre uma estrutura que já foi construída e testada."/>
          <p:cNvSpPr txBox="1"/>
          <p:nvPr/>
        </p:nvSpPr>
        <p:spPr>
          <a:xfrm>
            <a:off x="1522094" y="5143501"/>
            <a:ext cx="9147811" cy="552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>
            <a:lvl1pPr algn="ctr">
              <a:defRPr sz="1600">
                <a:solidFill>
                  <a:srgbClr val="C9D8E6"/>
                </a:solidFill>
                <a:latin typeface="Bitstream Charter"/>
                <a:ea typeface="Bitstream Charter"/>
                <a:cs typeface="Bitstream Charter"/>
                <a:sym typeface="Bitstream Charter"/>
              </a:defRPr>
            </a:lvl1pPr>
          </a:lstStyle>
          <a:p>
            <a:pPr/>
            <a:r>
              <a:t>Agora conectamos os dados reais sobre uma estrutura que já foi construída e testada.</a:t>
            </a:r>
          </a:p>
        </p:txBody>
      </p:sp>
      <p:sp>
        <p:nvSpPr>
          <p:cNvPr id="191" name="Retângulo"/>
          <p:cNvSpPr/>
          <p:nvPr/>
        </p:nvSpPr>
        <p:spPr>
          <a:xfrm>
            <a:off x="4762500" y="6048375"/>
            <a:ext cx="2667000" cy="47625"/>
          </a:xfrm>
          <a:prstGeom prst="rect">
            <a:avLst/>
          </a:prstGeom>
          <a:solidFill>
            <a:srgbClr val="F5822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